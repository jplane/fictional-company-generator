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3b74e0fe63d476b" /><Relationship Type="http://schemas.openxmlformats.org/package/2006/relationships/metadata/core-properties" Target="/docProps/core.xml" Id="R067bd3e677a44c7d" /><Relationship Type="http://schemas.openxmlformats.org/officeDocument/2006/relationships/extended-properties" Target="/docProps/app.xml" Id="R8166a9a465c34b32" /><Relationship Type="http://schemas.openxmlformats.org/officeDocument/2006/relationships/custom-properties" Target="/docProps/custom.xml" Id="R45f477dd7495497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a6a43b42fc094d2b"/>
  </p:notesMasterIdLst>
  <p:sldIdLst>
    <p:sldId id="256" r:id="Rba4ccdd143a34230"/>
    <p:sldId id="257" r:id="R6ed0240059624dcd"/>
    <p:sldId id="258" r:id="R1c70a96fa7064129"/>
    <p:sldId id="259" r:id="Rc04593f1f3e545e5"/>
    <p:sldId id="260" r:id="Re8492656903b4c89"/>
    <p:sldId id="261" r:id="Rb0d72a72b4b04441"/>
    <p:sldId id="262" r:id="R68a72cb333ec478d"/>
    <p:sldId id="263" r:id="R54048f4ada44417f"/>
    <p:sldId id="264" r:id="Rc64cd1527eb547b1"/>
    <p:sldId id="265" r:id="R88129a45e5e34e88"/>
  </p:sldIdLst>
  <p:sldSz cx="1219212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a4ccdd143a34230" /><Relationship Type="http://schemas.openxmlformats.org/officeDocument/2006/relationships/notesMaster" Target="/ppt/notesMasters/notesMaster1.xml" Id="Ra6a43b42fc094d2b" /><Relationship Type="http://schemas.openxmlformats.org/officeDocument/2006/relationships/slide" Target="/ppt/slides/slide2.xml" Id="R6ed0240059624dcd" /><Relationship Type="http://schemas.openxmlformats.org/officeDocument/2006/relationships/slide" Target="/ppt/slides/slide3.xml" Id="R1c70a96fa7064129" /><Relationship Type="http://schemas.openxmlformats.org/officeDocument/2006/relationships/slide" Target="/ppt/slides/slide4.xml" Id="Rc04593f1f3e545e5" /><Relationship Type="http://schemas.openxmlformats.org/officeDocument/2006/relationships/slide" Target="/ppt/slides/slide5.xml" Id="Re8492656903b4c89" /><Relationship Type="http://schemas.openxmlformats.org/officeDocument/2006/relationships/slide" Target="/ppt/slides/slide6.xml" Id="Rb0d72a72b4b04441" /><Relationship Type="http://schemas.openxmlformats.org/officeDocument/2006/relationships/slide" Target="/ppt/slides/slide7.xml" Id="R68a72cb333ec478d" /><Relationship Type="http://schemas.openxmlformats.org/officeDocument/2006/relationships/slide" Target="/ppt/slides/slide8.xml" Id="R54048f4ada44417f" /><Relationship Type="http://schemas.openxmlformats.org/officeDocument/2006/relationships/slide" Target="/ppt/slides/slide9.xml" Id="Rc64cd1527eb547b1" /><Relationship Type="http://schemas.openxmlformats.org/officeDocument/2006/relationships/slide" Target="/ppt/slides/slide10.xml" Id="R88129a45e5e34e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b15b99e99da4cb3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725e607f4d848e7" /><Relationship Type="http://schemas.openxmlformats.org/officeDocument/2006/relationships/slide" Target="/ppt/slides/slide1.xml" Id="R67f6b082e2ee46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469ee9e53444e64" /><Relationship Type="http://schemas.openxmlformats.org/officeDocument/2006/relationships/slide" Target="/ppt/slides/slide2.xml" Id="R318c7b8e9afe47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475354636614f3a" /><Relationship Type="http://schemas.openxmlformats.org/officeDocument/2006/relationships/slide" Target="/ppt/slides/slide3.xml" Id="Rf00e659d2f1f4c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4908c0972ba47ce" /><Relationship Type="http://schemas.openxmlformats.org/officeDocument/2006/relationships/slide" Target="/ppt/slides/slide4.xml" Id="Rf7af988f1b6b4d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a5d6099f11c4210" /><Relationship Type="http://schemas.openxmlformats.org/officeDocument/2006/relationships/slide" Target="/ppt/slides/slide5.xml" Id="R68ceffcd25034b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efdf0c8447048cc" /><Relationship Type="http://schemas.openxmlformats.org/officeDocument/2006/relationships/slide" Target="/ppt/slides/slide6.xml" Id="R2452a6426e7945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80a7a5a65bf43ad" /><Relationship Type="http://schemas.openxmlformats.org/officeDocument/2006/relationships/slide" Target="/ppt/slides/slide7.xml" Id="Rb02fef692a2a4b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d7bc26841b2412c" /><Relationship Type="http://schemas.openxmlformats.org/officeDocument/2006/relationships/slide" Target="/ppt/slides/slide8.xml" Id="R6d7d670d0d5e49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2dadbd3f88f4956" /><Relationship Type="http://schemas.openxmlformats.org/officeDocument/2006/relationships/slide" Target="/ppt/slides/slide9.xml" Id="R88019546ba264b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0073e170e034fcf" /><Relationship Type="http://schemas.openxmlformats.org/officeDocument/2006/relationships/slide" Target="/ppt/slides/slide10.xml" Id="R6067bbb14cfe45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2.0</a:t>
            </a:r>
          </a:p>
          <a:p xmlns:a="http://schemas.openxmlformats.org/drawingml/2006/main">
            <a:r>
              <a:rPr lang="en-US"/>
              <a:t>launched | 2021-08-15</a:t>
            </a:r>
          </a:p>
          <a:p xmlns:a="http://schemas.openxmlformats.org/drawingml/2006/main">
            <a:r>
              <a:rPr lang="en-US"/>
              <a:t>Tampa, Florida</a:t>
            </a:r>
          </a:p>
          <a:p xmlns:a="http://schemas.openxmlformats.org/drawingml/2006/main">
            <a:r>
              <a:rPr lang="en-US"/>
              <a:t>Quinn Mercer, Product Director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Moving industrial inference off a general-purpose host competes with system power, response-time and software-integration constraints.</a:t>
            </a:r>
          </a:p>
          <a:p xmlns:a="http://schemas.openxmlformats.org/drawingml/2006/main">
            <a:r>
              <a:rPr lang="en-US"/>
              <a:t>Peak INT8 throughput is not sustained application throughput. Customers must validate their model, host bandwidth and thermal design.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12 nm inference ASIC with PCIe Gen3 x4 host interface</a:t>
            </a:r>
          </a:p>
          <a:p xmlns:a="http://schemas.openxmlformats.org/drawingml/2006/main">
            <a:r>
              <a:rPr lang="en-US"/>
              <a:t>Evaluate the reference board, confirm interface behavior, complete workload and thermal validation, then approve the production configuration.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24 INT8 TOPS</a:t>
            </a:r>
          </a:p>
          <a:p xmlns:a="http://schemas.openxmlformats.org/drawingml/2006/main">
            <a:r>
              <a:rPr lang="en-US"/>
              <a:t>15 W board design budget</a:t>
            </a:r>
          </a:p>
          <a:p xmlns:a="http://schemas.openxmlformats.org/drawingml/2006/main">
            <a:r>
              <a:rPr lang="en-US"/>
              <a:t>Peak INT8 throughput is not sustained application throughput. Customers must validate their model, host bandwidth and thermal design.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Capture frames on the host, prepare tensors, submit inference over PCIe, and return results to the host application.</a:t>
            </a:r>
          </a:p>
          <a:p xmlns:a="http://schemas.openxmlformats.org/drawingml/2006/main">
            <a:r>
              <a:rPr lang="en-US"/>
              <a:t>Keep the host boundary and the version-matched component configuration explicit.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warehouse automation</a:t>
            </a:r>
          </a:p>
          <a:p xmlns:a="http://schemas.openxmlformats.org/drawingml/2006/main">
            <a:r>
              <a:rPr lang="en-US"/>
              <a:t>local equipment anomaly detection</a:t>
            </a:r>
          </a:p>
          <a:p xmlns:a="http://schemas.openxmlformats.org/drawingml/2006/main">
            <a:r>
              <a:rPr lang="en-US"/>
              <a:t>on-device visual inspection</a:t>
            </a:r>
          </a:p>
          <a:p xmlns:a="http://schemas.openxmlformats.org/drawingml/2006/main">
            <a:r>
              <a:rPr lang="en-US"/>
              <a:t>Validate each use case against the intended system, not the product label.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Agree the target workload, host interface, thermal boundary and qualification evidence before scheduling production adoption.</a:t>
            </a:r>
          </a:p>
          <a:p xmlns:a="http://schemas.openxmlformats.org/drawingml/2006/main">
            <a:r>
              <a:rPr lang="en-US"/>
              <a:t>schedule-backed allocation and repeatable factory test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Peak INT8 throughput is not sustained application throughput. Customers must validate their model, host bandwidth and thermal design.</a:t>
            </a:r>
          </a:p>
          <a:p xmlns:a="http://schemas.openxmlformats.org/drawingml/2006/main">
            <a:r>
              <a:rPr lang="en-US"/>
              <a:t>No regulatory certification, customer benchmark or customer endorsement is asserted.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Production orders and version-matched evaluation kits are available from the launch date, subject to quotation and allocation.</a:t>
            </a:r>
          </a:p>
          <a:p xmlns:a="http://schemas.openxmlformats.org/drawingml/2006/main">
            <a:r>
              <a:rPr lang="en-US"/>
              <a:t>Pricing and contractual lead times are supplied through customer-specific quotations.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Request the version-matched evaluation kit and interface pack from applications@sunnysemi.example.</a:t>
            </a:r>
          </a:p>
          <a:p xmlns:a="http://schemas.openxmlformats.org/drawingml/2006/main">
            <a:r>
              <a:rPr lang="en-US"/>
              <a:t>Agree the target workload, host interface, thermal boundary and qualification evidence before scheduling production adoption.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438902e82649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c6dc9b99f47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bcbac852c848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566e9f104a40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46ded552e4d5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2acbe8d531e4a7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e271d9c624536" /><Relationship Type="http://schemas.openxmlformats.org/officeDocument/2006/relationships/notesSlide" Target="/ppt/notesSlides/notesSlide1.xml" Id="R96e84c62a0a748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980a624ae4435" /><Relationship Type="http://schemas.openxmlformats.org/officeDocument/2006/relationships/notesSlide" Target="/ppt/notesSlides/notesSlide2.xml" Id="R9323b5414fad49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95305bd6e406e" /><Relationship Type="http://schemas.openxmlformats.org/officeDocument/2006/relationships/notesSlide" Target="/ppt/notesSlides/notesSlide3.xml" Id="R8b25b6b7340a4a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a2f1498ab431e" /><Relationship Type="http://schemas.openxmlformats.org/officeDocument/2006/relationships/notesSlide" Target="/ppt/notesSlides/notesSlide4.xml" Id="R21c62d2511254e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31c2a3dc2481e" /><Relationship Type="http://schemas.openxmlformats.org/officeDocument/2006/relationships/notesSlide" Target="/ppt/notesSlides/notesSlide5.xml" Id="Rc4718a65a1144b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9b981f15a4c48" /><Relationship Type="http://schemas.openxmlformats.org/officeDocument/2006/relationships/notesSlide" Target="/ppt/notesSlides/notesSlide6.xml" Id="Recb46056ce864f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fffa88fb14e07" /><Relationship Type="http://schemas.openxmlformats.org/officeDocument/2006/relationships/notesSlide" Target="/ppt/notesSlides/notesSlide7.xml" Id="R45f1533e70c64f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a9dd0e40c4a1a" /><Relationship Type="http://schemas.openxmlformats.org/officeDocument/2006/relationships/notesSlide" Target="/ppt/notesSlides/notesSlide8.xml" Id="R70ce7132df9642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399ea7dee4d93" /><Relationship Type="http://schemas.openxmlformats.org/officeDocument/2006/relationships/notesSlide" Target="/ppt/notesSlides/notesSlide9.xml" Id="R33dcf87c412349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2c62a55754fcb" /><Relationship Type="http://schemas.openxmlformats.org/officeDocument/2006/relationships/notesSlide" Target="/ppt/notesSlides/notesSlide10.xml" Id="R69b4aa86734240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2021-08-20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SunnySemi LLC - SunCore 2.0 - Edge Inference Adoption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SunCore 2.0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launched | 2021-08-15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Tampa, Florida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Quinn Mercer, Product Director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Released silicon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Evaluation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Qualification</a:t>
            </a:r>
          </a:p>
        </p:txBody>
      </p:sp>
      <p:sp>
        <p:nvSpPr>
          <p:cNvPr id="10000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01  |  PRODUCT BRIEFING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2021-08-20</a:t>
            </a:r>
          </a:p>
        </p:txBody>
      </p:sp>
      <p:sp>
        <p:nvSpPr>
          <p:cNvPr id="10001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Start with the equipment boundary</a:t>
            </a:r>
          </a:p>
        </p:txBody>
      </p:sp>
      <p:sp>
        <p:nvSpPr>
          <p:cNvPr id="10001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Moving industrial inference off a general-purpose host competes with system power, response-time and software-integration constraints.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Peak INT8 throughput is not sustained application throughput. Customers must validate their model, host bandwidth and thermal design.</a:t>
            </a:r>
          </a:p>
        </p:txBody>
      </p:sp>
      <p:sp>
        <p:nvSpPr>
          <p:cNvPr id="10001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1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Workload</a:t>
            </a:r>
          </a:p>
        </p:txBody>
      </p:sp>
      <p:sp>
        <p:nvSpPr>
          <p:cNvPr id="10001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1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Power</a:t>
            </a:r>
          </a:p>
        </p:txBody>
      </p:sp>
      <p:sp>
        <p:nvSpPr>
          <p:cNvPr id="10001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1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Integration</a:t>
            </a:r>
          </a:p>
        </p:txBody>
      </p:sp>
      <p:sp>
        <p:nvSpPr>
          <p:cNvPr id="10001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02  |  PRODUCT BRIEFING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2021-08-20</a:t>
            </a:r>
          </a:p>
        </p:txBody>
      </p:sp>
      <p:sp>
        <p:nvSpPr>
          <p:cNvPr id="10002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A component and a qualification path</a:t>
            </a:r>
          </a:p>
        </p:txBody>
      </p:sp>
      <p:sp>
        <p:nvSpPr>
          <p:cNvPr id="10002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12 nm inference ASIC with PCIe Gen3 x4 host interface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Evaluate the reference board, confirm interface behavior, complete workload and thermal validation, then approve the production configuration.</a:t>
            </a:r>
          </a:p>
        </p:txBody>
      </p:sp>
      <p:sp>
        <p:nvSpPr>
          <p:cNvPr id="10002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2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Reference platform</a:t>
            </a:r>
          </a:p>
        </p:txBody>
      </p:sp>
      <p:sp>
        <p:nvSpPr>
          <p:cNvPr id="10002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2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Acceptance evidence</a:t>
            </a:r>
          </a:p>
        </p:txBody>
      </p:sp>
      <p:sp>
        <p:nvSpPr>
          <p:cNvPr id="10002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2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configuration</a:t>
            </a:r>
          </a:p>
        </p:txBody>
      </p:sp>
      <p:sp>
        <p:nvSpPr>
          <p:cNvPr id="10002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03  |  PRODUCT BRIEFING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2021-08-20</a:t>
            </a:r>
          </a:p>
        </p:txBody>
      </p:sp>
      <p:sp>
        <p:nvSpPr>
          <p:cNvPr id="10003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published operating envelope</a:t>
            </a:r>
          </a:p>
        </p:txBody>
      </p:sp>
      <p:sp>
        <p:nvSpPr>
          <p:cNvPr id="10003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24 INT8 TOPS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15 W board design budget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Peak INT8 throughput is not sustained application throughput. Customers must validate their model, host bandwidth and thermal design.</a:t>
            </a:r>
          </a:p>
        </p:txBody>
      </p:sp>
      <p:sp>
        <p:nvSpPr>
          <p:cNvPr id="10003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3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24 INT8 TOPS</a:t>
            </a:r>
          </a:p>
        </p:txBody>
      </p:sp>
      <p:sp>
        <p:nvSpPr>
          <p:cNvPr id="100035" name="TextBox 6"/>
          <p:cNvSpPr/>
          <p:nvPr/>
        </p:nvSpPr>
        <p:spPr>
          <a:xfrm xmlns:a="http://schemas.openxmlformats.org/drawingml/2006/main">
            <a:off x="7236000" y="4086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36" name="TextBox 7"/>
          <p:cNvSpPr/>
          <p:nvPr/>
        </p:nvSpPr>
        <p:spPr>
          <a:xfrm xmlns:a="http://schemas.openxmlformats.org/drawingml/2006/main">
            <a:off x="7920000" y="4086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15 W board design budget</a:t>
            </a:r>
          </a:p>
        </p:txBody>
      </p:sp>
      <p:sp>
        <p:nvSpPr>
          <p:cNvPr id="100037" name="TextBox 8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04  |  PRODUCT BRIEFING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2021-08-20</a:t>
            </a:r>
          </a:p>
        </p:txBody>
      </p:sp>
      <p:sp>
        <p:nvSpPr>
          <p:cNvPr id="10003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What the interface enables</a:t>
            </a:r>
          </a:p>
        </p:txBody>
      </p:sp>
      <p:sp>
        <p:nvSpPr>
          <p:cNvPr id="10004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Capture frames on the host, prepare tensors, submit inference over PCIe, and return results to the host application.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Keep the host boundary and the version-matched component configuration explicit.</a:t>
            </a:r>
          </a:p>
        </p:txBody>
      </p:sp>
      <p:sp>
        <p:nvSpPr>
          <p:cNvPr id="10004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4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Host interface</a:t>
            </a:r>
          </a:p>
        </p:txBody>
      </p:sp>
      <p:sp>
        <p:nvSpPr>
          <p:cNvPr id="10004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4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Component execution</a:t>
            </a:r>
          </a:p>
        </p:txBody>
      </p:sp>
      <p:sp>
        <p:nvSpPr>
          <p:cNvPr id="10004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4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Status and results</a:t>
            </a:r>
          </a:p>
        </p:txBody>
      </p:sp>
      <p:sp>
        <p:nvSpPr>
          <p:cNvPr id="10004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05  |  PRODUCT BRIEFING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4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2021-08-20</a:t>
            </a:r>
          </a:p>
        </p:txBody>
      </p:sp>
      <p:sp>
        <p:nvSpPr>
          <p:cNvPr id="10004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Application paths to evaluate</a:t>
            </a:r>
          </a:p>
        </p:txBody>
      </p:sp>
      <p:sp>
        <p:nvSpPr>
          <p:cNvPr id="10005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warehouse automation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local equipment anomaly detection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on-device visual inspection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Validate each use case against the intended system, not the product label.</a:t>
            </a:r>
          </a:p>
        </p:txBody>
      </p:sp>
      <p:sp>
        <p:nvSpPr>
          <p:cNvPr id="10005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5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warehouse automation</a:t>
            </a:r>
          </a:p>
        </p:txBody>
      </p:sp>
      <p:sp>
        <p:nvSpPr>
          <p:cNvPr id="10005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5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local equipment anomaly detection</a:t>
            </a:r>
          </a:p>
        </p:txBody>
      </p:sp>
      <p:sp>
        <p:nvSpPr>
          <p:cNvPr id="10005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5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on-device visual inspection</a:t>
            </a:r>
          </a:p>
        </p:txBody>
      </p:sp>
      <p:sp>
        <p:nvSpPr>
          <p:cNvPr id="10005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06  |  PRODUCT BRIEFING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5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2021-08-20</a:t>
            </a:r>
          </a:p>
        </p:txBody>
      </p:sp>
      <p:sp>
        <p:nvSpPr>
          <p:cNvPr id="10005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Integration is a shared responsibility</a:t>
            </a:r>
          </a:p>
        </p:txBody>
      </p:sp>
      <p:sp>
        <p:nvSpPr>
          <p:cNvPr id="10006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Agree the target workload, host interface, thermal boundary and qualification evidence before scheduling production adoption.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schedule-backed allocation and repeatable factory test</a:t>
            </a:r>
          </a:p>
        </p:txBody>
      </p:sp>
      <p:sp>
        <p:nvSpPr>
          <p:cNvPr id="10006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6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workload</a:t>
            </a:r>
          </a:p>
        </p:txBody>
      </p:sp>
      <p:sp>
        <p:nvSpPr>
          <p:cNvPr id="10006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6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SunnySemi evidence</a:t>
            </a:r>
          </a:p>
        </p:txBody>
      </p:sp>
      <p:sp>
        <p:nvSpPr>
          <p:cNvPr id="10006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6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Joint qualification</a:t>
            </a:r>
          </a:p>
        </p:txBody>
      </p:sp>
      <p:sp>
        <p:nvSpPr>
          <p:cNvPr id="10006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07  |  PRODUCT BRIEFING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6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2021-08-20</a:t>
            </a:r>
          </a:p>
        </p:txBody>
      </p:sp>
      <p:sp>
        <p:nvSpPr>
          <p:cNvPr id="10006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Boundaries that must stay visible</a:t>
            </a:r>
          </a:p>
        </p:txBody>
      </p:sp>
      <p:sp>
        <p:nvSpPr>
          <p:cNvPr id="10007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Peak INT8 throughput is not sustained application throughput. Customers must validate their model, host bandwidth and thermal design.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No regulatory certification, customer benchmark or customer endorsement is asserted.</a:t>
            </a:r>
          </a:p>
        </p:txBody>
      </p:sp>
      <p:sp>
        <p:nvSpPr>
          <p:cNvPr id="10007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7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Component scope</a:t>
            </a:r>
          </a:p>
        </p:txBody>
      </p:sp>
      <p:sp>
        <p:nvSpPr>
          <p:cNvPr id="10007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7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Board scope</a:t>
            </a:r>
          </a:p>
        </p:txBody>
      </p:sp>
      <p:sp>
        <p:nvSpPr>
          <p:cNvPr id="10007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7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System scope</a:t>
            </a:r>
          </a:p>
        </p:txBody>
      </p:sp>
      <p:sp>
        <p:nvSpPr>
          <p:cNvPr id="10007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08  |  PRODUCT BRIEFING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7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2021-08-20</a:t>
            </a:r>
          </a:p>
        </p:txBody>
      </p:sp>
      <p:sp>
        <p:nvSpPr>
          <p:cNvPr id="10007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Plan adoption around release evidence</a:t>
            </a:r>
          </a:p>
        </p:txBody>
      </p:sp>
      <p:sp>
        <p:nvSpPr>
          <p:cNvPr id="10008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Production orders and version-matched evaluation kits are available from the launch date, subject to quotation and allocation.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Pricing and contractual lead times are supplied through customer-specific quotations.</a:t>
            </a:r>
          </a:p>
        </p:txBody>
      </p:sp>
      <p:sp>
        <p:nvSpPr>
          <p:cNvPr id="10008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8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Evaluate</a:t>
            </a:r>
          </a:p>
        </p:txBody>
      </p:sp>
      <p:sp>
        <p:nvSpPr>
          <p:cNvPr id="10008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8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Agree configuration</a:t>
            </a:r>
          </a:p>
        </p:txBody>
      </p:sp>
      <p:sp>
        <p:nvSpPr>
          <p:cNvPr id="10008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8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Quote and allocate</a:t>
            </a:r>
          </a:p>
        </p:txBody>
      </p:sp>
      <p:sp>
        <p:nvSpPr>
          <p:cNvPr id="10008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09  |  PRODUCT BRIEFING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8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2021-08-20</a:t>
            </a:r>
          </a:p>
        </p:txBody>
      </p:sp>
      <p:sp>
        <p:nvSpPr>
          <p:cNvPr id="10008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Begin with a version-matched evaluation</a:t>
            </a:r>
          </a:p>
        </p:txBody>
      </p:sp>
      <p:sp>
        <p:nvSpPr>
          <p:cNvPr id="10009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Request the version-matched evaluation kit and interface pack from applications@sunnysemi.example.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Agree the target workload, host interface, thermal boundary and qualification evidence before scheduling production adoption.</a:t>
            </a:r>
          </a:p>
        </p:txBody>
      </p:sp>
      <p:sp>
        <p:nvSpPr>
          <p:cNvPr id="10009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Evaluation kit</a:t>
            </a:r>
          </a:p>
        </p:txBody>
      </p:sp>
      <p:sp>
        <p:nvSpPr>
          <p:cNvPr id="10009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9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Interface pack</a:t>
            </a:r>
          </a:p>
        </p:txBody>
      </p:sp>
      <p:sp>
        <p:nvSpPr>
          <p:cNvPr id="10009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9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Qualification plan</a:t>
            </a:r>
          </a:p>
        </p:txBody>
      </p:sp>
      <p:sp>
        <p:nvSpPr>
          <p:cNvPr id="10009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10  |  PRODUCT BRIEFING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SunnySemi LLC</dc:creator>
  <dcterms:created xsi:type="dcterms:W3CDTF">2026-10-15T17:18:56.0000000Z</dcterms:created>
  <lastModifiedBy>OfficeCLI</lastModifiedBy>
  <dcterms:modified xsi:type="dcterms:W3CDTF">2026-10-15T17:18:58.2701821Z</dcterms:modified>
  <dc:title>SunnySemi LLC - SunCore 2.0 - Edge Inference Adoption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2026-10-15T17:18:58Z</vt:lpwstr>
  </op:property>
</op:Properties>
</file>