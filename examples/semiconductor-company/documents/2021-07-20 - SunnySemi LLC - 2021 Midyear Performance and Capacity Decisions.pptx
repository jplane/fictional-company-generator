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c73033c55b1e4b95" /><Relationship Type="http://schemas.openxmlformats.org/package/2006/relationships/metadata/core-properties" Target="/docProps/core.xml" Id="R994b1712010d4a33" /><Relationship Type="http://schemas.openxmlformats.org/officeDocument/2006/relationships/extended-properties" Target="/docProps/app.xml" Id="R8f02e032bc3e444f" /><Relationship Type="http://schemas.openxmlformats.org/officeDocument/2006/relationships/custom-properties" Target="/docProps/custom.xml" Id="Rafc72d5ab73944f3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9dec71b031f34b0c"/>
  </p:notesMasterIdLst>
  <p:sldIdLst>
    <p:sldId id="256" r:id="R10653186c4d24856"/>
    <p:sldId id="257" r:id="R145de1a57ff14efb"/>
    <p:sldId id="258" r:id="Rccedfb072a60467c"/>
    <p:sldId id="259" r:id="R760c286d01a145c0"/>
    <p:sldId id="260" r:id="Rae47ec8443d0433f"/>
    <p:sldId id="261" r:id="R5fad212469e34675"/>
    <p:sldId id="262" r:id="R2adf880ede6f4215"/>
    <p:sldId id="263" r:id="R038213117087451e"/>
    <p:sldId id="264" r:id="R20566907a21145e7"/>
    <p:sldId id="265" r:id="R5771e4fc75e845f2"/>
  </p:sldIdLst>
  <p:sldSz cx="12192120" cy="6858000" type="custom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10653186c4d24856" /><Relationship Type="http://schemas.openxmlformats.org/officeDocument/2006/relationships/notesMaster" Target="/ppt/notesMasters/notesMaster1.xml" Id="R9dec71b031f34b0c" /><Relationship Type="http://schemas.openxmlformats.org/officeDocument/2006/relationships/slide" Target="/ppt/slides/slide2.xml" Id="R145de1a57ff14efb" /><Relationship Type="http://schemas.openxmlformats.org/officeDocument/2006/relationships/slide" Target="/ppt/slides/slide3.xml" Id="Rccedfb072a60467c" /><Relationship Type="http://schemas.openxmlformats.org/officeDocument/2006/relationships/slide" Target="/ppt/slides/slide4.xml" Id="R760c286d01a145c0" /><Relationship Type="http://schemas.openxmlformats.org/officeDocument/2006/relationships/slide" Target="/ppt/slides/slide5.xml" Id="Rae47ec8443d0433f" /><Relationship Type="http://schemas.openxmlformats.org/officeDocument/2006/relationships/slide" Target="/ppt/slides/slide6.xml" Id="R5fad212469e34675" /><Relationship Type="http://schemas.openxmlformats.org/officeDocument/2006/relationships/slide" Target="/ppt/slides/slide7.xml" Id="R2adf880ede6f4215" /><Relationship Type="http://schemas.openxmlformats.org/officeDocument/2006/relationships/slide" Target="/ppt/slides/slide8.xml" Id="R038213117087451e" /><Relationship Type="http://schemas.openxmlformats.org/officeDocument/2006/relationships/slide" Target="/ppt/slides/slide9.xml" Id="R20566907a21145e7" /><Relationship Type="http://schemas.openxmlformats.org/officeDocument/2006/relationships/slide" Target="/ppt/slides/slide10.xml" Id="R5771e4fc75e845f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a0a1e8767b7b4d6a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7a49f00773584282" /><Relationship Type="http://schemas.openxmlformats.org/officeDocument/2006/relationships/slide" Target="/ppt/slides/slide1.xml" Id="Rbcd013988128415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9f6fa391aef94717" /><Relationship Type="http://schemas.openxmlformats.org/officeDocument/2006/relationships/slide" Target="/ppt/slides/slide2.xml" Id="R3b286c37ef67445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4575efc532374869" /><Relationship Type="http://schemas.openxmlformats.org/officeDocument/2006/relationships/slide" Target="/ppt/slides/slide3.xml" Id="Rb5eca2db9b33404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5378434c16b84abf" /><Relationship Type="http://schemas.openxmlformats.org/officeDocument/2006/relationships/slide" Target="/ppt/slides/slide4.xml" Id="Ref250195594f4e1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390d2e5f7ce94d02" /><Relationship Type="http://schemas.openxmlformats.org/officeDocument/2006/relationships/slide" Target="/ppt/slides/slide5.xml" Id="R42df4187d53148c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592648cf6c514f6e" /><Relationship Type="http://schemas.openxmlformats.org/officeDocument/2006/relationships/slide" Target="/ppt/slides/slide6.xml" Id="R799687de0841405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e49dffe08ae4462b" /><Relationship Type="http://schemas.openxmlformats.org/officeDocument/2006/relationships/slide" Target="/ppt/slides/slide7.xml" Id="Rbed246d5921b4af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9d29ac0032f2413e" /><Relationship Type="http://schemas.openxmlformats.org/officeDocument/2006/relationships/slide" Target="/ppt/slides/slide8.xml" Id="R559e39132f83416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b3c22346f77a4e2c" /><Relationship Type="http://schemas.openxmlformats.org/officeDocument/2006/relationships/slide" Target="/ppt/slides/slide9.xml" Id="R9dd6131e12ca443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1b75c6676705413a" /><Relationship Type="http://schemas.openxmlformats.org/officeDocument/2006/relationships/slide" Target="/ppt/slides/slide10.xml" Id="R17cfb5d6f1f6465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Allocation discipline</a:t>
            </a:r>
          </a:p>
          <a:p xmlns:a="http://schemas.openxmlformats.org/drawingml/2006/main">
            <a:r>
              <a:rPr lang="en-US"/>
              <a:t>Tampa, Florida</a:t>
            </a:r>
          </a:p>
          <a:p xmlns:a="http://schemas.openxmlformats.org/drawingml/2006/main">
            <a:r>
              <a:rPr lang="en-US"/>
              <a:t>Avery Rowan, CEO</a:t>
            </a:r>
          </a:p>
          <a:p xmlns:a="http://schemas.openxmlformats.org/drawingml/2006/main">
            <a:r>
              <a:rPr lang="en-US"/>
              <a:t>Midyear actuals and a gated capacity decision; confidential board material.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Q1 revenue: $480.0 million</a:t>
            </a:r>
          </a:p>
          <a:p xmlns:a="http://schemas.openxmlformats.org/drawingml/2006/main">
            <a:r>
              <a:rPr lang="en-US"/>
              <a:t>Q2 revenue: $552.0 million</a:t>
            </a:r>
          </a:p>
          <a:p xmlns:a="http://schemas.openxmlformats.org/drawingml/2006/main">
            <a:r>
              <a:rPr lang="en-US"/>
              <a:t>Q2 operating income: $160.1 million</a:t>
            </a:r>
          </a:p>
          <a:p xmlns:a="http://schemas.openxmlformats.org/drawingml/2006/main">
            <a:r>
              <a:rPr lang="en-US"/>
              <a:t>Revenue and operating income are actuals, not bookings or cash flow.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Revenue $552.0 million</a:t>
            </a:r>
          </a:p>
          <a:p xmlns:a="http://schemas.openxmlformats.org/drawingml/2006/main">
            <a:r>
              <a:rPr lang="en-US"/>
              <a:t>Less COGS $242.9 million</a:t>
            </a:r>
          </a:p>
          <a:p xmlns:a="http://schemas.openxmlformats.org/drawingml/2006/main">
            <a:r>
              <a:rPr lang="en-US"/>
              <a:t>Less operating expense $149.0 million</a:t>
            </a:r>
          </a:p>
          <a:p xmlns:a="http://schemas.openxmlformats.org/drawingml/2006/main">
            <a:r>
              <a:rPr lang="en-US"/>
              <a:t>Operating income $160.1 million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SunCore recognized revenue: $342.2 million</a:t>
            </a:r>
          </a:p>
          <a:p xmlns:a="http://schemas.openxmlformats.org/drawingml/2006/main">
            <a:r>
              <a:rPr lang="en-US"/>
              <a:t>GulfSwitch recognized revenue: $209.8 million</a:t>
            </a:r>
          </a:p>
          <a:p xmlns:a="http://schemas.openxmlformats.org/drawingml/2006/main">
            <a:r>
              <a:rPr lang="en-US"/>
              <a:t>Own differentiated silicon architecture and application validation; use external manufacturing rather than build a wafer fab.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Wafer cost $157.9 million</a:t>
            </a:r>
          </a:p>
          <a:p xmlns:a="http://schemas.openxmlformats.org/drawingml/2006/main">
            <a:r>
              <a:rPr lang="en-US"/>
              <a:t>Package and test $60.7 million</a:t>
            </a:r>
          </a:p>
          <a:p xmlns:a="http://schemas.openxmlformats.org/drawingml/2006/main">
            <a:r>
              <a:rPr lang="en-US"/>
              <a:t>Logistics $24.3 million</a:t>
            </a:r>
          </a:p>
          <a:p xmlns:a="http://schemas.openxmlformats.org/drawingml/2006/main">
            <a:r>
              <a:rPr lang="en-US"/>
              <a:t>These components reconcile to reported COGS.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Engineering opex: $104.3 million</a:t>
            </a:r>
          </a:p>
          <a:p xmlns:a="http://schemas.openxmlformats.org/drawingml/2006/main">
            <a:r>
              <a:rPr lang="en-US"/>
              <a:t>Commercial and administrative opex: $44.7 million</a:t>
            </a:r>
          </a:p>
          <a:p xmlns:a="http://schemas.openxmlformats.org/drawingml/2006/main">
            <a:r>
              <a:rPr lang="en-US"/>
              <a:t>Q2 ending headcount: 920</a:t>
            </a:r>
          </a:p>
          <a:p xmlns:a="http://schemas.openxmlformats.org/drawingml/2006/main">
            <a:r>
              <a:rPr lang="en-US"/>
              <a:t>Quinn Mercer owns customer qualification; Riley Arden owns release evidence; the effective CFO owns capacity-commitment review.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SunCore 2.0: 24 INT8 TOPS</a:t>
            </a:r>
          </a:p>
          <a:p xmlns:a="http://schemas.openxmlformats.org/drawingml/2006/main">
            <a:r>
              <a:rPr lang="en-US"/>
              <a:t>GulfSwitch 2.0: 48 V maximum rated input</a:t>
            </a:r>
          </a:p>
          <a:p xmlns:a="http://schemas.openxmlformats.org/drawingml/2006/main">
            <a:r>
              <a:rPr lang="en-US"/>
              <a:t>Target release date: 2021-08-15</a:t>
            </a:r>
          </a:p>
          <a:p xmlns:a="http://schemas.openxmlformats.org/drawingml/2006/main">
            <a:r>
              <a:rPr lang="en-US"/>
              <a:t>Planned at this briefing date; completion is not asserted.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Risk: long wafer-start commitments</a:t>
            </a:r>
          </a:p>
          <a:p xmlns:a="http://schemas.openxmlformats.org/drawingml/2006/main">
            <a:r>
              <a:rPr lang="en-US"/>
              <a:t>Mitigation: match wafer reservations to accepted customer schedules</a:t>
            </a:r>
          </a:p>
          <a:p xmlns:a="http://schemas.openxmlformats.org/drawingml/2006/main">
            <a:r>
              <a:rPr lang="en-US"/>
              <a:t>allocate constrained starts to qualified designs rather than unverified demand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Preferred: Stage commitments against qualification evidence.</a:t>
            </a:r>
          </a:p>
          <a:p xmlns:a="http://schemas.openxmlformats.org/drawingml/2006/main">
            <a:r>
              <a:rPr lang="en-US"/>
              <a:t>Alternative: Commit the entire proposed capacity increment immediately.</a:t>
            </a:r>
          </a:p>
          <a:p xmlns:a="http://schemas.openxmlformats.org/drawingml/2006/main">
            <a:r>
              <a:rPr lang="en-US"/>
              <a:t>Staging limits irreversible commitments but can defer some shipment opportunities.</a:t>
            </a:r>
          </a:p>
          <a:p xmlns:a="http://schemas.openxmlformats.org/drawingml/2006/main">
            <a:r>
              <a:rPr lang="en-US"/>
              <a:t>CoralKey Packaging: closed, $85.0 million.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Approve milestone-based capacity releases; retain existing commercial approval limits and require Finance and Engineering sign-off before each increment.</a:t>
            </a:r>
          </a:p>
          <a:p xmlns:a="http://schemas.openxmlformats.org/drawingml/2006/main">
            <a:r>
              <a:rPr lang="en-US"/>
              <a:t>Requested; no board approval is recorded in this briefing.</a:t>
            </a:r>
          </a:p>
          <a:p xmlns:a="http://schemas.openxmlformats.org/drawingml/2006/main">
            <a:r>
              <a:rPr lang="en-US"/>
              <a:t>No cash balance, debt balance, free-cash-flow measure or forecast is included.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b55c7562e24ae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381a071f19485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bb52ffb9764e9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8fb434c67a4e5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7601a9dddb4b8b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45a80f899183412c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478c9e3c584845" /><Relationship Type="http://schemas.openxmlformats.org/officeDocument/2006/relationships/notesSlide" Target="/ppt/notesSlides/notesSlide1.xml" Id="Ra5988d1461c042e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e3593e53314fe3" /><Relationship Type="http://schemas.openxmlformats.org/officeDocument/2006/relationships/notesSlide" Target="/ppt/notesSlides/notesSlide2.xml" Id="R5764d2f90103429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6fbf339f1e4ec8" /><Relationship Type="http://schemas.openxmlformats.org/officeDocument/2006/relationships/notesSlide" Target="/ppt/notesSlides/notesSlide3.xml" Id="R201c54df9a83433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739797a49e44dc" /><Relationship Type="http://schemas.openxmlformats.org/officeDocument/2006/relationships/notesSlide" Target="/ppt/notesSlides/notesSlide4.xml" Id="R8f98e8bc43e2454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ec38697bcc4268" /><Relationship Type="http://schemas.openxmlformats.org/officeDocument/2006/relationships/notesSlide" Target="/ppt/notesSlides/notesSlide5.xml" Id="R7ac338f730464f8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6b599ccb5047b3" /><Relationship Type="http://schemas.openxmlformats.org/officeDocument/2006/relationships/notesSlide" Target="/ppt/notesSlides/notesSlide6.xml" Id="Rc80cd303a8b342c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40cc094c3549f7" /><Relationship Type="http://schemas.openxmlformats.org/officeDocument/2006/relationships/notesSlide" Target="/ppt/notesSlides/notesSlide7.xml" Id="R09ba8c4f7f6e4ac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acd76070234c26" /><Relationship Type="http://schemas.openxmlformats.org/officeDocument/2006/relationships/notesSlide" Target="/ppt/notesSlides/notesSlide8.xml" Id="R13936e23da60494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230120265c475b" /><Relationship Type="http://schemas.openxmlformats.org/officeDocument/2006/relationships/notesSlide" Target="/ppt/notesSlides/notesSlide9.xml" Id="Rf1b86d36b8474c8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a1f58d31034afc" /><Relationship Type="http://schemas.openxmlformats.org/officeDocument/2006/relationships/notesSlide" Target="/ppt/notesSlides/notesSlide10.xml" Id="R27fdac1529e1415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3B4A"/>
        </a:solidFill>
      </p:bgPr>
    </p:bg>
    <p:spTree>
      <p:nvGrpSpPr>
        <p:cNvPr id="1" name=""/>
        <p:cNvGrpSpPr/>
        <p:nvPr/>
      </p:nvGrpSpPr>
      <p:grpSpPr/>
      <p:sp>
        <p:nvSpPr>
          <p:cNvPr id="100000" name="TextBox 1"/>
          <p:cNvSpPr/>
          <p:nvPr/>
        </p:nvSpPr>
        <p:spPr>
          <a:xfrm xmlns:a="http://schemas.openxmlformats.org/drawingml/2006/main">
            <a:off x="504000" y="144000"/>
            <a:ext cx="10440000" cy="34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BEE5E6"/>
                </a:solidFill>
                <a:latin typeface="Calibri"/>
                <a:ea typeface="Calibri"/>
              </a:rPr>
              <a:t>SUNNYSEMI LLC   |   2021-07-20</a:t>
            </a:r>
          </a:p>
        </p:txBody>
      </p:sp>
      <p:sp>
        <p:nvSpPr>
          <p:cNvPr id="100001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FFFFFF"/>
                </a:solidFill>
                <a:latin typeface="Calibri"/>
                <a:ea typeface="Calibri"/>
              </a:rPr>
              <a:t>SunnySemi LLC - 2021 Midyear Performance and Capacity Decisions</a:t>
            </a:r>
          </a:p>
        </p:txBody>
      </p:sp>
      <p:sp>
        <p:nvSpPr>
          <p:cNvPr id="100002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Allocation discipline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Tampa, Florida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Avery Rowan, CEO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Midyear actuals and a gated capacity decision; confidential board material.</a:t>
            </a:r>
          </a:p>
        </p:txBody>
      </p:sp>
      <p:sp>
        <p:nvSpPr>
          <p:cNvPr id="100003" name="TextBox 4"/>
          <p:cNvSpPr/>
          <p:nvPr/>
        </p:nvSpPr>
        <p:spPr>
          <a:xfrm xmlns:a="http://schemas.openxmlformats.org/drawingml/2006/main">
            <a:off x="7236000" y="2268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00004" name="TextBox 5"/>
          <p:cNvSpPr/>
          <p:nvPr/>
        </p:nvSpPr>
        <p:spPr>
          <a:xfrm xmlns:a="http://schemas.openxmlformats.org/drawingml/2006/main">
            <a:off x="7920000" y="2268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Actual performance</a:t>
            </a:r>
          </a:p>
        </p:txBody>
      </p:sp>
      <p:sp>
        <p:nvSpPr>
          <p:cNvPr id="100005" name="TextBox 6"/>
          <p:cNvSpPr/>
          <p:nvPr/>
        </p:nvSpPr>
        <p:spPr>
          <a:xfrm xmlns:a="http://schemas.openxmlformats.org/drawingml/2006/main">
            <a:off x="7236000" y="3480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00006" name="TextBox 7"/>
          <p:cNvSpPr/>
          <p:nvPr/>
        </p:nvSpPr>
        <p:spPr>
          <a:xfrm xmlns:a="http://schemas.openxmlformats.org/drawingml/2006/main">
            <a:off x="7920000" y="3480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Release readiness</a:t>
            </a:r>
          </a:p>
        </p:txBody>
      </p:sp>
      <p:sp>
        <p:nvSpPr>
          <p:cNvPr id="100007" name="TextBox 8"/>
          <p:cNvSpPr/>
          <p:nvPr/>
        </p:nvSpPr>
        <p:spPr>
          <a:xfrm xmlns:a="http://schemas.openxmlformats.org/drawingml/2006/main">
            <a:off x="7236000" y="4692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100008" name="TextBox 9"/>
          <p:cNvSpPr/>
          <p:nvPr/>
        </p:nvSpPr>
        <p:spPr>
          <a:xfrm xmlns:a="http://schemas.openxmlformats.org/drawingml/2006/main">
            <a:off x="7920000" y="4692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Capacity authority</a:t>
            </a:r>
          </a:p>
        </p:txBody>
      </p:sp>
      <p:sp>
        <p:nvSpPr>
          <p:cNvPr id="100009" name="TextBox 10"/>
          <p:cNvSpPr/>
          <p:nvPr/>
        </p:nvSpPr>
        <p:spPr>
          <a:xfrm xmlns:a="http://schemas.openxmlformats.org/drawingml/2006/main">
            <a:off x="504000" y="6444000"/>
            <a:ext cx="11088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BEE5E6"/>
                </a:solidFill>
                <a:latin typeface="Calibri"/>
                <a:ea typeface="Calibri"/>
              </a:rPr>
              <a:t>01  |  BOARD CONFIDENTIAL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BFB"/>
        </a:solidFill>
      </p:bgPr>
    </p:bg>
    <p:spTree>
      <p:nvGrpSpPr>
        <p:cNvPr id="1" name=""/>
        <p:cNvGrpSpPr/>
        <p:nvPr/>
      </p:nvGrpSpPr>
      <p:grpSpPr/>
      <p:sp>
        <p:nvSpPr>
          <p:cNvPr id="100010" name="TextBox 1"/>
          <p:cNvSpPr/>
          <p:nvPr/>
        </p:nvSpPr>
        <p:spPr>
          <a:xfrm xmlns:a="http://schemas.openxmlformats.org/drawingml/2006/main">
            <a:off x="504000" y="144000"/>
            <a:ext cx="10440000" cy="34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087E8B"/>
                </a:solidFill>
                <a:latin typeface="Calibri"/>
                <a:ea typeface="Calibri"/>
              </a:rPr>
              <a:t>SUNNYSEMI LLC   |   2021-07-20</a:t>
            </a:r>
          </a:p>
        </p:txBody>
      </p:sp>
      <p:sp>
        <p:nvSpPr>
          <p:cNvPr id="100011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72F38"/>
                </a:solidFill>
                <a:latin typeface="Calibri"/>
                <a:ea typeface="Calibri"/>
              </a:rPr>
              <a:t>Recognized revenue and operating income</a:t>
            </a:r>
          </a:p>
        </p:txBody>
      </p:sp>
      <p:sp>
        <p:nvSpPr>
          <p:cNvPr id="100012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Q1 revenue: $480.0 million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Q2 revenue: $552.0 million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Q2 operating income: $160.1 million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Revenue and operating income are actuals, not bookings or cash flow.</a:t>
            </a:r>
          </a:p>
        </p:txBody>
      </p:sp>
      <p:sp>
        <p:nvSpPr>
          <p:cNvPr id="100013" name="TextBox 4"/>
          <p:cNvSpPr/>
          <p:nvPr/>
        </p:nvSpPr>
        <p:spPr>
          <a:xfrm xmlns:a="http://schemas.openxmlformats.org/drawingml/2006/main">
            <a:off x="7236000" y="2268000"/>
            <a:ext cx="4284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400">
                <a:solidFill>
                  <a:srgbClr val="172F38"/>
                </a:solidFill>
                <a:latin typeface="Calibri"/>
                <a:ea typeface="Calibri"/>
              </a:rPr>
              <a:t>Q1 revenue</a:t>
            </a:r>
          </a:p>
        </p:txBody>
      </p:sp>
      <p:sp>
        <p:nvSpPr>
          <p:cNvPr id="100014" name="TextBox 5"/>
          <p:cNvSpPr/>
          <p:nvPr/>
        </p:nvSpPr>
        <p:spPr>
          <a:xfrm xmlns:a="http://schemas.openxmlformats.org/drawingml/2006/main">
            <a:off x="7236000" y="2628000"/>
            <a:ext cx="3725217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endParaRPr lang="en-US" sz="2000">
              <a:solidFill>
                <a:srgbClr val="172F38"/>
              </a:solidFill>
              <a:latin typeface="Calibri"/>
              <a:ea typeface="Calibri"/>
            </a:endParaRPr>
          </a:p>
        </p:txBody>
      </p:sp>
      <p:sp>
        <p:nvSpPr>
          <p:cNvPr id="100015" name="TextBox 6"/>
          <p:cNvSpPr/>
          <p:nvPr/>
        </p:nvSpPr>
        <p:spPr>
          <a:xfrm xmlns:a="http://schemas.openxmlformats.org/drawingml/2006/main">
            <a:off x="7236000" y="4014000"/>
            <a:ext cx="4284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400">
                <a:solidFill>
                  <a:srgbClr val="172F38"/>
                </a:solidFill>
                <a:latin typeface="Calibri"/>
                <a:ea typeface="Calibri"/>
              </a:rPr>
              <a:t>Q2 revenue</a:t>
            </a:r>
          </a:p>
        </p:txBody>
      </p:sp>
      <p:sp>
        <p:nvSpPr>
          <p:cNvPr id="100016" name="TextBox 7"/>
          <p:cNvSpPr/>
          <p:nvPr/>
        </p:nvSpPr>
        <p:spPr>
          <a:xfrm xmlns:a="http://schemas.openxmlformats.org/drawingml/2006/main">
            <a:off x="7236000" y="4374000"/>
            <a:ext cx="4284000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AB37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endParaRPr lang="en-US" sz="2000">
              <a:solidFill>
                <a:srgbClr val="172F38"/>
              </a:solidFill>
              <a:latin typeface="Calibri"/>
              <a:ea typeface="Calibri"/>
            </a:endParaRPr>
          </a:p>
        </p:txBody>
      </p:sp>
      <p:sp>
        <p:nvSpPr>
          <p:cNvPr id="100017" name="TextBox 8"/>
          <p:cNvSpPr/>
          <p:nvPr/>
        </p:nvSpPr>
        <p:spPr>
          <a:xfrm xmlns:a="http://schemas.openxmlformats.org/drawingml/2006/main">
            <a:off x="7236000" y="6012000"/>
            <a:ext cx="4284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172F38"/>
                </a:solidFill>
                <a:latin typeface="Calibri"/>
                <a:ea typeface="Calibri"/>
              </a:rPr>
              <a:t>USD | common scale within this chart</a:t>
            </a:r>
          </a:p>
        </p:txBody>
      </p:sp>
      <p:sp>
        <p:nvSpPr>
          <p:cNvPr id="100018" name="TextBox 9"/>
          <p:cNvSpPr/>
          <p:nvPr/>
        </p:nvSpPr>
        <p:spPr>
          <a:xfrm xmlns:a="http://schemas.openxmlformats.org/drawingml/2006/main">
            <a:off x="504000" y="6444000"/>
            <a:ext cx="11088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087E8B"/>
                </a:solidFill>
                <a:latin typeface="Calibri"/>
                <a:ea typeface="Calibri"/>
              </a:rPr>
              <a:t>02  |  BOARD CONFIDENTIAL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BFB"/>
        </a:solidFill>
      </p:bgPr>
    </p:bg>
    <p:spTree>
      <p:nvGrpSpPr>
        <p:cNvPr id="1" name=""/>
        <p:cNvGrpSpPr/>
        <p:nvPr/>
      </p:nvGrpSpPr>
      <p:grpSpPr/>
      <p:sp>
        <p:nvSpPr>
          <p:cNvPr id="100019" name="TextBox 1"/>
          <p:cNvSpPr/>
          <p:nvPr/>
        </p:nvSpPr>
        <p:spPr>
          <a:xfrm xmlns:a="http://schemas.openxmlformats.org/drawingml/2006/main">
            <a:off x="504000" y="144000"/>
            <a:ext cx="10440000" cy="34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087E8B"/>
                </a:solidFill>
                <a:latin typeface="Calibri"/>
                <a:ea typeface="Calibri"/>
              </a:rPr>
              <a:t>SUNNYSEMI LLC   |   2021-07-20</a:t>
            </a:r>
          </a:p>
        </p:txBody>
      </p:sp>
      <p:sp>
        <p:nvSpPr>
          <p:cNvPr id="100020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72F38"/>
                </a:solidFill>
                <a:latin typeface="Calibri"/>
                <a:ea typeface="Calibri"/>
              </a:rPr>
              <a:t>The Q2 operating-income bridge</a:t>
            </a:r>
          </a:p>
        </p:txBody>
      </p:sp>
      <p:sp>
        <p:nvSpPr>
          <p:cNvPr id="100021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Revenue $552.0 million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Less COGS $242.9 million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Less operating expense $149.0 million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Operating income $160.1 million</a:t>
            </a:r>
          </a:p>
        </p:txBody>
      </p:sp>
      <p:sp>
        <p:nvSpPr>
          <p:cNvPr id="100022" name="TextBox 4"/>
          <p:cNvSpPr/>
          <p:nvPr/>
        </p:nvSpPr>
        <p:spPr>
          <a:xfrm xmlns:a="http://schemas.openxmlformats.org/drawingml/2006/main">
            <a:off x="7236000" y="2268000"/>
            <a:ext cx="4284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400">
                <a:solidFill>
                  <a:srgbClr val="172F38"/>
                </a:solidFill>
                <a:latin typeface="Calibri"/>
                <a:ea typeface="Calibri"/>
              </a:rPr>
              <a:t>Revenue</a:t>
            </a:r>
          </a:p>
        </p:txBody>
      </p:sp>
      <p:sp>
        <p:nvSpPr>
          <p:cNvPr id="100023" name="TextBox 5"/>
          <p:cNvSpPr/>
          <p:nvPr/>
        </p:nvSpPr>
        <p:spPr>
          <a:xfrm xmlns:a="http://schemas.openxmlformats.org/drawingml/2006/main">
            <a:off x="7236000" y="2628000"/>
            <a:ext cx="4284000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endParaRPr lang="en-US" sz="2000">
              <a:solidFill>
                <a:srgbClr val="172F38"/>
              </a:solidFill>
              <a:latin typeface="Calibri"/>
              <a:ea typeface="Calibri"/>
            </a:endParaRPr>
          </a:p>
        </p:txBody>
      </p:sp>
      <p:sp>
        <p:nvSpPr>
          <p:cNvPr id="100024" name="TextBox 6"/>
          <p:cNvSpPr/>
          <p:nvPr/>
        </p:nvSpPr>
        <p:spPr>
          <a:xfrm xmlns:a="http://schemas.openxmlformats.org/drawingml/2006/main">
            <a:off x="7236000" y="3141000"/>
            <a:ext cx="4284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400">
                <a:solidFill>
                  <a:srgbClr val="172F38"/>
                </a:solidFill>
                <a:latin typeface="Calibri"/>
                <a:ea typeface="Calibri"/>
              </a:rPr>
              <a:t>COGS</a:t>
            </a:r>
          </a:p>
        </p:txBody>
      </p:sp>
      <p:sp>
        <p:nvSpPr>
          <p:cNvPr id="100025" name="TextBox 7"/>
          <p:cNvSpPr/>
          <p:nvPr/>
        </p:nvSpPr>
        <p:spPr>
          <a:xfrm xmlns:a="http://schemas.openxmlformats.org/drawingml/2006/main">
            <a:off x="7236000" y="3501000"/>
            <a:ext cx="1884960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AB37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endParaRPr lang="en-US" sz="2000">
              <a:solidFill>
                <a:srgbClr val="172F38"/>
              </a:solidFill>
              <a:latin typeface="Calibri"/>
              <a:ea typeface="Calibri"/>
            </a:endParaRPr>
          </a:p>
        </p:txBody>
      </p:sp>
      <p:sp>
        <p:nvSpPr>
          <p:cNvPr id="100026" name="TextBox 8"/>
          <p:cNvSpPr/>
          <p:nvPr/>
        </p:nvSpPr>
        <p:spPr>
          <a:xfrm xmlns:a="http://schemas.openxmlformats.org/drawingml/2006/main">
            <a:off x="7236000" y="4014000"/>
            <a:ext cx="4284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400">
                <a:solidFill>
                  <a:srgbClr val="172F38"/>
                </a:solidFill>
                <a:latin typeface="Calibri"/>
                <a:ea typeface="Calibri"/>
              </a:rPr>
              <a:t>Opex</a:t>
            </a:r>
          </a:p>
        </p:txBody>
      </p:sp>
      <p:sp>
        <p:nvSpPr>
          <p:cNvPr id="100027" name="TextBox 9"/>
          <p:cNvSpPr/>
          <p:nvPr/>
        </p:nvSpPr>
        <p:spPr>
          <a:xfrm xmlns:a="http://schemas.openxmlformats.org/drawingml/2006/main">
            <a:off x="7236000" y="4374000"/>
            <a:ext cx="1156680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endParaRPr lang="en-US" sz="2000">
              <a:solidFill>
                <a:srgbClr val="172F38"/>
              </a:solidFill>
              <a:latin typeface="Calibri"/>
              <a:ea typeface="Calibri"/>
            </a:endParaRPr>
          </a:p>
        </p:txBody>
      </p:sp>
      <p:sp>
        <p:nvSpPr>
          <p:cNvPr id="100028" name="TextBox 10"/>
          <p:cNvSpPr/>
          <p:nvPr/>
        </p:nvSpPr>
        <p:spPr>
          <a:xfrm xmlns:a="http://schemas.openxmlformats.org/drawingml/2006/main">
            <a:off x="7236000" y="4887000"/>
            <a:ext cx="4284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400">
                <a:solidFill>
                  <a:srgbClr val="172F38"/>
                </a:solidFill>
                <a:latin typeface="Calibri"/>
                <a:ea typeface="Calibri"/>
              </a:rPr>
              <a:t>Operating income</a:t>
            </a:r>
          </a:p>
        </p:txBody>
      </p:sp>
      <p:sp>
        <p:nvSpPr>
          <p:cNvPr id="100029" name="TextBox 11"/>
          <p:cNvSpPr/>
          <p:nvPr/>
        </p:nvSpPr>
        <p:spPr>
          <a:xfrm xmlns:a="http://schemas.openxmlformats.org/drawingml/2006/main">
            <a:off x="7236000" y="5247000"/>
            <a:ext cx="1242360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AB37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endParaRPr lang="en-US" sz="2000">
              <a:solidFill>
                <a:srgbClr val="172F38"/>
              </a:solidFill>
              <a:latin typeface="Calibri"/>
              <a:ea typeface="Calibri"/>
            </a:endParaRPr>
          </a:p>
        </p:txBody>
      </p:sp>
      <p:sp>
        <p:nvSpPr>
          <p:cNvPr id="100030" name="TextBox 12"/>
          <p:cNvSpPr/>
          <p:nvPr/>
        </p:nvSpPr>
        <p:spPr>
          <a:xfrm xmlns:a="http://schemas.openxmlformats.org/drawingml/2006/main">
            <a:off x="7236000" y="6012000"/>
            <a:ext cx="4284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172F38"/>
                </a:solidFill>
                <a:latin typeface="Calibri"/>
                <a:ea typeface="Calibri"/>
              </a:rPr>
              <a:t>USD | common scale within this chart</a:t>
            </a:r>
          </a:p>
        </p:txBody>
      </p:sp>
      <p:sp>
        <p:nvSpPr>
          <p:cNvPr id="100031" name="TextBox 13"/>
          <p:cNvSpPr/>
          <p:nvPr/>
        </p:nvSpPr>
        <p:spPr>
          <a:xfrm xmlns:a="http://schemas.openxmlformats.org/drawingml/2006/main">
            <a:off x="504000" y="6444000"/>
            <a:ext cx="11088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087E8B"/>
                </a:solidFill>
                <a:latin typeface="Calibri"/>
                <a:ea typeface="Calibri"/>
              </a:rPr>
              <a:t>03  |  BOARD CONFIDENTIAL</a:t>
            </a:r>
          </a:p>
        </p:txBody>
      </p:sp>
    </p:spTree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BFB"/>
        </a:solidFill>
      </p:bgPr>
    </p:bg>
    <p:spTree>
      <p:nvGrpSpPr>
        <p:cNvPr id="1" name=""/>
        <p:cNvGrpSpPr/>
        <p:nvPr/>
      </p:nvGrpSpPr>
      <p:grpSpPr/>
      <p:sp>
        <p:nvSpPr>
          <p:cNvPr id="100032" name="TextBox 1"/>
          <p:cNvSpPr/>
          <p:nvPr/>
        </p:nvSpPr>
        <p:spPr>
          <a:xfrm xmlns:a="http://schemas.openxmlformats.org/drawingml/2006/main">
            <a:off x="504000" y="144000"/>
            <a:ext cx="10440000" cy="34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087E8B"/>
                </a:solidFill>
                <a:latin typeface="Calibri"/>
                <a:ea typeface="Calibri"/>
              </a:rPr>
              <a:t>SUNNYSEMI LLC   |   2021-07-20</a:t>
            </a:r>
          </a:p>
        </p:txBody>
      </p:sp>
      <p:sp>
        <p:nvSpPr>
          <p:cNvPr id="100033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72F38"/>
                </a:solidFill>
                <a:latin typeface="Calibri"/>
                <a:ea typeface="Calibri"/>
              </a:rPr>
              <a:t>Two silicon franchises fund the strategy</a:t>
            </a:r>
          </a:p>
        </p:txBody>
      </p:sp>
      <p:sp>
        <p:nvSpPr>
          <p:cNvPr id="100034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SunCore recognized revenue: $342.2 million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GulfSwitch recognized revenue: $209.8 million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Own differentiated silicon architecture and application validation; use external manufacturing rather than build a wafer fab.</a:t>
            </a:r>
          </a:p>
        </p:txBody>
      </p:sp>
      <p:sp>
        <p:nvSpPr>
          <p:cNvPr id="100035" name="TextBox 4"/>
          <p:cNvSpPr/>
          <p:nvPr/>
        </p:nvSpPr>
        <p:spPr>
          <a:xfrm xmlns:a="http://schemas.openxmlformats.org/drawingml/2006/main">
            <a:off x="7236000" y="2268000"/>
            <a:ext cx="4284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400">
                <a:solidFill>
                  <a:srgbClr val="172F38"/>
                </a:solidFill>
                <a:latin typeface="Calibri"/>
                <a:ea typeface="Calibri"/>
              </a:rPr>
              <a:t>SunCore</a:t>
            </a:r>
          </a:p>
        </p:txBody>
      </p:sp>
      <p:sp>
        <p:nvSpPr>
          <p:cNvPr id="100036" name="TextBox 5"/>
          <p:cNvSpPr/>
          <p:nvPr/>
        </p:nvSpPr>
        <p:spPr>
          <a:xfrm xmlns:a="http://schemas.openxmlformats.org/drawingml/2006/main">
            <a:off x="7236000" y="2628000"/>
            <a:ext cx="4284000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endParaRPr lang="en-US" sz="2000">
              <a:solidFill>
                <a:srgbClr val="172F38"/>
              </a:solidFill>
              <a:latin typeface="Calibri"/>
              <a:ea typeface="Calibri"/>
            </a:endParaRPr>
          </a:p>
        </p:txBody>
      </p:sp>
      <p:sp>
        <p:nvSpPr>
          <p:cNvPr id="100037" name="TextBox 6"/>
          <p:cNvSpPr/>
          <p:nvPr/>
        </p:nvSpPr>
        <p:spPr>
          <a:xfrm xmlns:a="http://schemas.openxmlformats.org/drawingml/2006/main">
            <a:off x="7236000" y="4014000"/>
            <a:ext cx="4284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400">
                <a:solidFill>
                  <a:srgbClr val="172F38"/>
                </a:solidFill>
                <a:latin typeface="Calibri"/>
                <a:ea typeface="Calibri"/>
              </a:rPr>
              <a:t>GulfSwitch</a:t>
            </a:r>
          </a:p>
        </p:txBody>
      </p:sp>
      <p:sp>
        <p:nvSpPr>
          <p:cNvPr id="100038" name="TextBox 7"/>
          <p:cNvSpPr/>
          <p:nvPr/>
        </p:nvSpPr>
        <p:spPr>
          <a:xfrm xmlns:a="http://schemas.openxmlformats.org/drawingml/2006/main">
            <a:off x="7236000" y="4374000"/>
            <a:ext cx="2625677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AB37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endParaRPr lang="en-US" sz="2000">
              <a:solidFill>
                <a:srgbClr val="172F38"/>
              </a:solidFill>
              <a:latin typeface="Calibri"/>
              <a:ea typeface="Calibri"/>
            </a:endParaRPr>
          </a:p>
        </p:txBody>
      </p:sp>
      <p:sp>
        <p:nvSpPr>
          <p:cNvPr id="100039" name="TextBox 8"/>
          <p:cNvSpPr/>
          <p:nvPr/>
        </p:nvSpPr>
        <p:spPr>
          <a:xfrm xmlns:a="http://schemas.openxmlformats.org/drawingml/2006/main">
            <a:off x="7236000" y="6012000"/>
            <a:ext cx="4284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172F38"/>
                </a:solidFill>
                <a:latin typeface="Calibri"/>
                <a:ea typeface="Calibri"/>
              </a:rPr>
              <a:t>USD | common scale within this chart</a:t>
            </a:r>
          </a:p>
        </p:txBody>
      </p:sp>
      <p:sp>
        <p:nvSpPr>
          <p:cNvPr id="100040" name="TextBox 9"/>
          <p:cNvSpPr/>
          <p:nvPr/>
        </p:nvSpPr>
        <p:spPr>
          <a:xfrm xmlns:a="http://schemas.openxmlformats.org/drawingml/2006/main">
            <a:off x="504000" y="6444000"/>
            <a:ext cx="11088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087E8B"/>
                </a:solidFill>
                <a:latin typeface="Calibri"/>
                <a:ea typeface="Calibri"/>
              </a:rPr>
              <a:t>04  |  BOARD CONFIDENTIAL</a:t>
            </a:r>
          </a:p>
        </p:txBody>
      </p:sp>
    </p:spTree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BFB"/>
        </a:solidFill>
      </p:bgPr>
    </p:bg>
    <p:spTree>
      <p:nvGrpSpPr>
        <p:cNvPr id="1" name=""/>
        <p:cNvGrpSpPr/>
        <p:nvPr/>
      </p:nvGrpSpPr>
      <p:grpSpPr/>
      <p:sp>
        <p:nvSpPr>
          <p:cNvPr id="100041" name="TextBox 1"/>
          <p:cNvSpPr/>
          <p:nvPr/>
        </p:nvSpPr>
        <p:spPr>
          <a:xfrm xmlns:a="http://schemas.openxmlformats.org/drawingml/2006/main">
            <a:off x="504000" y="144000"/>
            <a:ext cx="10440000" cy="34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087E8B"/>
                </a:solidFill>
                <a:latin typeface="Calibri"/>
                <a:ea typeface="Calibri"/>
              </a:rPr>
              <a:t>SUNNYSEMI LLC   |   2021-07-20</a:t>
            </a:r>
          </a:p>
        </p:txBody>
      </p:sp>
      <p:sp>
        <p:nvSpPr>
          <p:cNvPr id="100042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72F38"/>
                </a:solidFill>
                <a:latin typeface="Calibri"/>
                <a:ea typeface="Calibri"/>
              </a:rPr>
              <a:t>Manufacturing spend has distinct drivers</a:t>
            </a:r>
          </a:p>
        </p:txBody>
      </p:sp>
      <p:sp>
        <p:nvSpPr>
          <p:cNvPr id="100043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Wafer cost $157.9 million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Package and test $60.7 million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Logistics $24.3 million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These components reconcile to reported COGS.</a:t>
            </a:r>
          </a:p>
        </p:txBody>
      </p:sp>
      <p:sp>
        <p:nvSpPr>
          <p:cNvPr id="100044" name="TextBox 4"/>
          <p:cNvSpPr/>
          <p:nvPr/>
        </p:nvSpPr>
        <p:spPr>
          <a:xfrm xmlns:a="http://schemas.openxmlformats.org/drawingml/2006/main">
            <a:off x="7236000" y="2268000"/>
            <a:ext cx="4284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400">
                <a:solidFill>
                  <a:srgbClr val="172F38"/>
                </a:solidFill>
                <a:latin typeface="Calibri"/>
                <a:ea typeface="Calibri"/>
              </a:rPr>
              <a:t>Wafer</a:t>
            </a:r>
          </a:p>
        </p:txBody>
      </p:sp>
      <p:sp>
        <p:nvSpPr>
          <p:cNvPr id="100045" name="TextBox 5"/>
          <p:cNvSpPr/>
          <p:nvPr/>
        </p:nvSpPr>
        <p:spPr>
          <a:xfrm xmlns:a="http://schemas.openxmlformats.org/drawingml/2006/main">
            <a:off x="7236000" y="2628000"/>
            <a:ext cx="4284000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endParaRPr lang="en-US" sz="2000">
              <a:solidFill>
                <a:srgbClr val="172F38"/>
              </a:solidFill>
              <a:latin typeface="Calibri"/>
              <a:ea typeface="Calibri"/>
            </a:endParaRPr>
          </a:p>
        </p:txBody>
      </p:sp>
      <p:sp>
        <p:nvSpPr>
          <p:cNvPr id="100046" name="TextBox 6"/>
          <p:cNvSpPr/>
          <p:nvPr/>
        </p:nvSpPr>
        <p:spPr>
          <a:xfrm xmlns:a="http://schemas.openxmlformats.org/drawingml/2006/main">
            <a:off x="7236000" y="3432000"/>
            <a:ext cx="4284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400">
                <a:solidFill>
                  <a:srgbClr val="172F38"/>
                </a:solidFill>
                <a:latin typeface="Calibri"/>
                <a:ea typeface="Calibri"/>
              </a:rPr>
              <a:t>Package/test</a:t>
            </a:r>
          </a:p>
        </p:txBody>
      </p:sp>
      <p:sp>
        <p:nvSpPr>
          <p:cNvPr id="100047" name="TextBox 7"/>
          <p:cNvSpPr/>
          <p:nvPr/>
        </p:nvSpPr>
        <p:spPr>
          <a:xfrm xmlns:a="http://schemas.openxmlformats.org/drawingml/2006/main">
            <a:off x="7236000" y="3792000"/>
            <a:ext cx="1647692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AB37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endParaRPr lang="en-US" sz="2000">
              <a:solidFill>
                <a:srgbClr val="172F38"/>
              </a:solidFill>
              <a:latin typeface="Calibri"/>
              <a:ea typeface="Calibri"/>
            </a:endParaRPr>
          </a:p>
        </p:txBody>
      </p:sp>
      <p:sp>
        <p:nvSpPr>
          <p:cNvPr id="100048" name="TextBox 8"/>
          <p:cNvSpPr/>
          <p:nvPr/>
        </p:nvSpPr>
        <p:spPr>
          <a:xfrm xmlns:a="http://schemas.openxmlformats.org/drawingml/2006/main">
            <a:off x="7236000" y="4596000"/>
            <a:ext cx="4284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400">
                <a:solidFill>
                  <a:srgbClr val="172F38"/>
                </a:solidFill>
                <a:latin typeface="Calibri"/>
                <a:ea typeface="Calibri"/>
              </a:rPr>
              <a:t>Logistics</a:t>
            </a:r>
          </a:p>
        </p:txBody>
      </p:sp>
      <p:sp>
        <p:nvSpPr>
          <p:cNvPr id="100049" name="TextBox 9"/>
          <p:cNvSpPr/>
          <p:nvPr/>
        </p:nvSpPr>
        <p:spPr>
          <a:xfrm xmlns:a="http://schemas.openxmlformats.org/drawingml/2006/main">
            <a:off x="7236000" y="4956000"/>
            <a:ext cx="659077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endParaRPr lang="en-US" sz="2000">
              <a:solidFill>
                <a:srgbClr val="172F38"/>
              </a:solidFill>
              <a:latin typeface="Calibri"/>
              <a:ea typeface="Calibri"/>
            </a:endParaRPr>
          </a:p>
        </p:txBody>
      </p:sp>
      <p:sp>
        <p:nvSpPr>
          <p:cNvPr id="100050" name="TextBox 10"/>
          <p:cNvSpPr/>
          <p:nvPr/>
        </p:nvSpPr>
        <p:spPr>
          <a:xfrm xmlns:a="http://schemas.openxmlformats.org/drawingml/2006/main">
            <a:off x="7236000" y="6012000"/>
            <a:ext cx="4284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172F38"/>
                </a:solidFill>
                <a:latin typeface="Calibri"/>
                <a:ea typeface="Calibri"/>
              </a:rPr>
              <a:t>USD | common scale within this chart</a:t>
            </a:r>
          </a:p>
        </p:txBody>
      </p:sp>
      <p:sp>
        <p:nvSpPr>
          <p:cNvPr id="100051" name="TextBox 11"/>
          <p:cNvSpPr/>
          <p:nvPr/>
        </p:nvSpPr>
        <p:spPr>
          <a:xfrm xmlns:a="http://schemas.openxmlformats.org/drawingml/2006/main">
            <a:off x="504000" y="6444000"/>
            <a:ext cx="11088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087E8B"/>
                </a:solidFill>
                <a:latin typeface="Calibri"/>
                <a:ea typeface="Calibri"/>
              </a:rPr>
              <a:t>05  |  BOARD CONFIDENTIAL</a:t>
            </a:r>
          </a:p>
        </p:txBody>
      </p:sp>
    </p:spTree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BFB"/>
        </a:solidFill>
      </p:bgPr>
    </p:bg>
    <p:spTree>
      <p:nvGrpSpPr>
        <p:cNvPr id="1" name=""/>
        <p:cNvGrpSpPr/>
        <p:nvPr/>
      </p:nvGrpSpPr>
      <p:grpSpPr/>
      <p:sp>
        <p:nvSpPr>
          <p:cNvPr id="100052" name="TextBox 1"/>
          <p:cNvSpPr/>
          <p:nvPr/>
        </p:nvSpPr>
        <p:spPr>
          <a:xfrm xmlns:a="http://schemas.openxmlformats.org/drawingml/2006/main">
            <a:off x="504000" y="144000"/>
            <a:ext cx="10440000" cy="34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087E8B"/>
                </a:solidFill>
                <a:latin typeface="Calibri"/>
                <a:ea typeface="Calibri"/>
              </a:rPr>
              <a:t>SUNNYSEMI LLC   |   2021-07-20</a:t>
            </a:r>
          </a:p>
        </p:txBody>
      </p:sp>
      <p:sp>
        <p:nvSpPr>
          <p:cNvPr id="100053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72F38"/>
                </a:solidFill>
                <a:latin typeface="Calibri"/>
                <a:ea typeface="Calibri"/>
              </a:rPr>
              <a:t>Engineering investment and release accountability</a:t>
            </a:r>
          </a:p>
        </p:txBody>
      </p:sp>
      <p:sp>
        <p:nvSpPr>
          <p:cNvPr id="100054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Engineering opex: $104.3 million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Commercial and administrative opex: $44.7 million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Q2 ending headcount: 920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Quinn Mercer owns customer qualification; Riley Arden owns release evidence; the effective CFO owns capacity-commitment review.</a:t>
            </a:r>
          </a:p>
        </p:txBody>
      </p:sp>
      <p:sp>
        <p:nvSpPr>
          <p:cNvPr id="100055" name="TextBox 4"/>
          <p:cNvSpPr/>
          <p:nvPr/>
        </p:nvSpPr>
        <p:spPr>
          <a:xfrm xmlns:a="http://schemas.openxmlformats.org/drawingml/2006/main">
            <a:off x="7236000" y="2268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00056" name="TextBox 5"/>
          <p:cNvSpPr/>
          <p:nvPr/>
        </p:nvSpPr>
        <p:spPr>
          <a:xfrm xmlns:a="http://schemas.openxmlformats.org/drawingml/2006/main">
            <a:off x="7920000" y="2268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Engineering evidence</a:t>
            </a:r>
          </a:p>
        </p:txBody>
      </p:sp>
      <p:sp>
        <p:nvSpPr>
          <p:cNvPr id="100057" name="TextBox 6"/>
          <p:cNvSpPr/>
          <p:nvPr/>
        </p:nvSpPr>
        <p:spPr>
          <a:xfrm xmlns:a="http://schemas.openxmlformats.org/drawingml/2006/main">
            <a:off x="7236000" y="3480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00058" name="TextBox 7"/>
          <p:cNvSpPr/>
          <p:nvPr/>
        </p:nvSpPr>
        <p:spPr>
          <a:xfrm xmlns:a="http://schemas.openxmlformats.org/drawingml/2006/main">
            <a:off x="7920000" y="3480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Customer qualification</a:t>
            </a:r>
          </a:p>
        </p:txBody>
      </p:sp>
      <p:sp>
        <p:nvSpPr>
          <p:cNvPr id="100059" name="TextBox 8"/>
          <p:cNvSpPr/>
          <p:nvPr/>
        </p:nvSpPr>
        <p:spPr>
          <a:xfrm xmlns:a="http://schemas.openxmlformats.org/drawingml/2006/main">
            <a:off x="7236000" y="4692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100060" name="TextBox 9"/>
          <p:cNvSpPr/>
          <p:nvPr/>
        </p:nvSpPr>
        <p:spPr>
          <a:xfrm xmlns:a="http://schemas.openxmlformats.org/drawingml/2006/main">
            <a:off x="7920000" y="4692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Finance sign-off</a:t>
            </a:r>
          </a:p>
        </p:txBody>
      </p:sp>
      <p:sp>
        <p:nvSpPr>
          <p:cNvPr id="100061" name="TextBox 10"/>
          <p:cNvSpPr/>
          <p:nvPr/>
        </p:nvSpPr>
        <p:spPr>
          <a:xfrm xmlns:a="http://schemas.openxmlformats.org/drawingml/2006/main">
            <a:off x="504000" y="6444000"/>
            <a:ext cx="11088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087E8B"/>
                </a:solidFill>
                <a:latin typeface="Calibri"/>
                <a:ea typeface="Calibri"/>
              </a:rPr>
              <a:t>06  |  BOARD CONFIDENTIAL</a:t>
            </a:r>
          </a:p>
        </p:txBody>
      </p:sp>
    </p:spTree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BFB"/>
        </a:solidFill>
      </p:bgPr>
    </p:bg>
    <p:spTree>
      <p:nvGrpSpPr>
        <p:cNvPr id="1" name=""/>
        <p:cNvGrpSpPr/>
        <p:nvPr/>
      </p:nvGrpSpPr>
      <p:grpSpPr/>
      <p:sp>
        <p:nvSpPr>
          <p:cNvPr id="100062" name="TextBox 1"/>
          <p:cNvSpPr/>
          <p:nvPr/>
        </p:nvSpPr>
        <p:spPr>
          <a:xfrm xmlns:a="http://schemas.openxmlformats.org/drawingml/2006/main">
            <a:off x="504000" y="144000"/>
            <a:ext cx="10440000" cy="34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087E8B"/>
                </a:solidFill>
                <a:latin typeface="Calibri"/>
                <a:ea typeface="Calibri"/>
              </a:rPr>
              <a:t>SUNNYSEMI LLC   |   2021-07-20</a:t>
            </a:r>
          </a:p>
        </p:txBody>
      </p:sp>
      <p:sp>
        <p:nvSpPr>
          <p:cNvPr id="100063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72F38"/>
                </a:solidFill>
                <a:latin typeface="Calibri"/>
                <a:ea typeface="Calibri"/>
              </a:rPr>
              <a:t>The August release gate is still ahead</a:t>
            </a:r>
          </a:p>
        </p:txBody>
      </p:sp>
      <p:sp>
        <p:nvSpPr>
          <p:cNvPr id="100064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SunCore 2.0: 24 INT8 TOPS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GulfSwitch 2.0: 48 V maximum rated input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Target release date: 2021-08-15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Planned at this briefing date; completion is not asserted.</a:t>
            </a:r>
          </a:p>
        </p:txBody>
      </p:sp>
      <p:sp>
        <p:nvSpPr>
          <p:cNvPr id="100065" name="TextBox 4"/>
          <p:cNvSpPr/>
          <p:nvPr/>
        </p:nvSpPr>
        <p:spPr>
          <a:xfrm xmlns:a="http://schemas.openxmlformats.org/drawingml/2006/main">
            <a:off x="7236000" y="2268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00066" name="TextBox 5"/>
          <p:cNvSpPr/>
          <p:nvPr/>
        </p:nvSpPr>
        <p:spPr>
          <a:xfrm xmlns:a="http://schemas.openxmlformats.org/drawingml/2006/main">
            <a:off x="7920000" y="2268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Specification</a:t>
            </a:r>
          </a:p>
        </p:txBody>
      </p:sp>
      <p:sp>
        <p:nvSpPr>
          <p:cNvPr id="100067" name="TextBox 6"/>
          <p:cNvSpPr/>
          <p:nvPr/>
        </p:nvSpPr>
        <p:spPr>
          <a:xfrm xmlns:a="http://schemas.openxmlformats.org/drawingml/2006/main">
            <a:off x="7236000" y="3480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00068" name="TextBox 7"/>
          <p:cNvSpPr/>
          <p:nvPr/>
        </p:nvSpPr>
        <p:spPr>
          <a:xfrm xmlns:a="http://schemas.openxmlformats.org/drawingml/2006/main">
            <a:off x="7920000" y="3480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Verification</a:t>
            </a:r>
          </a:p>
        </p:txBody>
      </p:sp>
      <p:sp>
        <p:nvSpPr>
          <p:cNvPr id="100069" name="TextBox 8"/>
          <p:cNvSpPr/>
          <p:nvPr/>
        </p:nvSpPr>
        <p:spPr>
          <a:xfrm xmlns:a="http://schemas.openxmlformats.org/drawingml/2006/main">
            <a:off x="7236000" y="4692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100070" name="TextBox 9"/>
          <p:cNvSpPr/>
          <p:nvPr/>
        </p:nvSpPr>
        <p:spPr>
          <a:xfrm xmlns:a="http://schemas.openxmlformats.org/drawingml/2006/main">
            <a:off x="7920000" y="4692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Production release</a:t>
            </a:r>
          </a:p>
        </p:txBody>
      </p:sp>
      <p:sp>
        <p:nvSpPr>
          <p:cNvPr id="100071" name="TextBox 10"/>
          <p:cNvSpPr/>
          <p:nvPr/>
        </p:nvSpPr>
        <p:spPr>
          <a:xfrm xmlns:a="http://schemas.openxmlformats.org/drawingml/2006/main">
            <a:off x="504000" y="6444000"/>
            <a:ext cx="11088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087E8B"/>
                </a:solidFill>
                <a:latin typeface="Calibri"/>
                <a:ea typeface="Calibri"/>
              </a:rPr>
              <a:t>07  |  BOARD CONFIDENTIAL</a:t>
            </a:r>
          </a:p>
        </p:txBody>
      </p:sp>
    </p:spTree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BFB"/>
        </a:solidFill>
      </p:bgPr>
    </p:bg>
    <p:spTree>
      <p:nvGrpSpPr>
        <p:cNvPr id="1" name=""/>
        <p:cNvGrpSpPr/>
        <p:nvPr/>
      </p:nvGrpSpPr>
      <p:grpSpPr/>
      <p:sp>
        <p:nvSpPr>
          <p:cNvPr id="100072" name="TextBox 1"/>
          <p:cNvSpPr/>
          <p:nvPr/>
        </p:nvSpPr>
        <p:spPr>
          <a:xfrm xmlns:a="http://schemas.openxmlformats.org/drawingml/2006/main">
            <a:off x="504000" y="144000"/>
            <a:ext cx="10440000" cy="34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087E8B"/>
                </a:solidFill>
                <a:latin typeface="Calibri"/>
                <a:ea typeface="Calibri"/>
              </a:rPr>
              <a:t>SUNNYSEMI LLC   |   2021-07-20</a:t>
            </a:r>
          </a:p>
        </p:txBody>
      </p:sp>
      <p:sp>
        <p:nvSpPr>
          <p:cNvPr id="100073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72F38"/>
                </a:solidFill>
                <a:latin typeface="Calibri"/>
                <a:ea typeface="Calibri"/>
              </a:rPr>
              <a:t>Concentrate controls on the binding risk</a:t>
            </a:r>
          </a:p>
        </p:txBody>
      </p:sp>
      <p:sp>
        <p:nvSpPr>
          <p:cNvPr id="100074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Risk: long wafer-start commitments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Mitigation: match wafer reservations to accepted customer schedules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allocate constrained starts to qualified designs rather than unverified demand</a:t>
            </a:r>
          </a:p>
        </p:txBody>
      </p:sp>
      <p:sp>
        <p:nvSpPr>
          <p:cNvPr id="100075" name="TextBox 4"/>
          <p:cNvSpPr/>
          <p:nvPr/>
        </p:nvSpPr>
        <p:spPr>
          <a:xfrm xmlns:a="http://schemas.openxmlformats.org/drawingml/2006/main">
            <a:off x="7236000" y="2268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00076" name="TextBox 5"/>
          <p:cNvSpPr/>
          <p:nvPr/>
        </p:nvSpPr>
        <p:spPr>
          <a:xfrm xmlns:a="http://schemas.openxmlformats.org/drawingml/2006/main">
            <a:off x="7920000" y="2268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Identify dependency</a:t>
            </a:r>
          </a:p>
        </p:txBody>
      </p:sp>
      <p:sp>
        <p:nvSpPr>
          <p:cNvPr id="100077" name="TextBox 6"/>
          <p:cNvSpPr/>
          <p:nvPr/>
        </p:nvSpPr>
        <p:spPr>
          <a:xfrm xmlns:a="http://schemas.openxmlformats.org/drawingml/2006/main">
            <a:off x="7236000" y="3480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00078" name="TextBox 7"/>
          <p:cNvSpPr/>
          <p:nvPr/>
        </p:nvSpPr>
        <p:spPr>
          <a:xfrm xmlns:a="http://schemas.openxmlformats.org/drawingml/2006/main">
            <a:off x="7920000" y="3480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Retain evidence</a:t>
            </a:r>
          </a:p>
        </p:txBody>
      </p:sp>
      <p:sp>
        <p:nvSpPr>
          <p:cNvPr id="100079" name="TextBox 8"/>
          <p:cNvSpPr/>
          <p:nvPr/>
        </p:nvSpPr>
        <p:spPr>
          <a:xfrm xmlns:a="http://schemas.openxmlformats.org/drawingml/2006/main">
            <a:off x="7236000" y="4692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100080" name="TextBox 9"/>
          <p:cNvSpPr/>
          <p:nvPr/>
        </p:nvSpPr>
        <p:spPr>
          <a:xfrm xmlns:a="http://schemas.openxmlformats.org/drawingml/2006/main">
            <a:off x="7920000" y="4692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Gate commitment</a:t>
            </a:r>
          </a:p>
        </p:txBody>
      </p:sp>
      <p:sp>
        <p:nvSpPr>
          <p:cNvPr id="100081" name="TextBox 10"/>
          <p:cNvSpPr/>
          <p:nvPr/>
        </p:nvSpPr>
        <p:spPr>
          <a:xfrm xmlns:a="http://schemas.openxmlformats.org/drawingml/2006/main">
            <a:off x="504000" y="6444000"/>
            <a:ext cx="11088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087E8B"/>
                </a:solidFill>
                <a:latin typeface="Calibri"/>
                <a:ea typeface="Calibri"/>
              </a:rPr>
              <a:t>08  |  BOARD CONFIDENTIAL</a:t>
            </a:r>
          </a:p>
        </p:txBody>
      </p:sp>
    </p:spTree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BFB"/>
        </a:solidFill>
      </p:bgPr>
    </p:bg>
    <p:spTree>
      <p:nvGrpSpPr>
        <p:cNvPr id="1" name=""/>
        <p:cNvGrpSpPr/>
        <p:nvPr/>
      </p:nvGrpSpPr>
      <p:grpSpPr/>
      <p:sp>
        <p:nvSpPr>
          <p:cNvPr id="100082" name="TextBox 1"/>
          <p:cNvSpPr/>
          <p:nvPr/>
        </p:nvSpPr>
        <p:spPr>
          <a:xfrm xmlns:a="http://schemas.openxmlformats.org/drawingml/2006/main">
            <a:off x="504000" y="144000"/>
            <a:ext cx="10440000" cy="34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087E8B"/>
                </a:solidFill>
                <a:latin typeface="Calibri"/>
                <a:ea typeface="Calibri"/>
              </a:rPr>
              <a:t>SUNNYSEMI LLC   |   2021-07-20</a:t>
            </a:r>
          </a:p>
        </p:txBody>
      </p:sp>
      <p:sp>
        <p:nvSpPr>
          <p:cNvPr id="100083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72F38"/>
                </a:solidFill>
                <a:latin typeface="Calibri"/>
                <a:ea typeface="Calibri"/>
              </a:rPr>
              <a:t>Capacity options and transaction context</a:t>
            </a:r>
          </a:p>
        </p:txBody>
      </p:sp>
      <p:sp>
        <p:nvSpPr>
          <p:cNvPr id="100084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Preferred: Stage commitments against qualification evidence.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Alternative: Commit the entire proposed capacity increment immediately.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Staging limits irreversible commitments but can defer some shipment opportunities.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CoralKey Packaging: closed, $85.0 million.</a:t>
            </a:r>
          </a:p>
        </p:txBody>
      </p:sp>
      <p:sp>
        <p:nvSpPr>
          <p:cNvPr id="100085" name="TextBox 4"/>
          <p:cNvSpPr/>
          <p:nvPr/>
        </p:nvSpPr>
        <p:spPr>
          <a:xfrm xmlns:a="http://schemas.openxmlformats.org/drawingml/2006/main">
            <a:off x="7236000" y="2268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00086" name="TextBox 5"/>
          <p:cNvSpPr/>
          <p:nvPr/>
        </p:nvSpPr>
        <p:spPr>
          <a:xfrm xmlns:a="http://schemas.openxmlformats.org/drawingml/2006/main">
            <a:off x="7920000" y="2268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Stage commitments</a:t>
            </a:r>
          </a:p>
        </p:txBody>
      </p:sp>
      <p:sp>
        <p:nvSpPr>
          <p:cNvPr id="100087" name="TextBox 6"/>
          <p:cNvSpPr/>
          <p:nvPr/>
        </p:nvSpPr>
        <p:spPr>
          <a:xfrm xmlns:a="http://schemas.openxmlformats.org/drawingml/2006/main">
            <a:off x="7236000" y="4086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00088" name="TextBox 7"/>
          <p:cNvSpPr/>
          <p:nvPr/>
        </p:nvSpPr>
        <p:spPr>
          <a:xfrm xmlns:a="http://schemas.openxmlformats.org/drawingml/2006/main">
            <a:off x="7920000" y="4086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Commit immediately</a:t>
            </a:r>
          </a:p>
        </p:txBody>
      </p:sp>
      <p:sp>
        <p:nvSpPr>
          <p:cNvPr id="100089" name="TextBox 8"/>
          <p:cNvSpPr/>
          <p:nvPr/>
        </p:nvSpPr>
        <p:spPr>
          <a:xfrm xmlns:a="http://schemas.openxmlformats.org/drawingml/2006/main">
            <a:off x="504000" y="6444000"/>
            <a:ext cx="11088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087E8B"/>
                </a:solidFill>
                <a:latin typeface="Calibri"/>
                <a:ea typeface="Calibri"/>
              </a:rPr>
              <a:t>09  |  BOARD CONFIDENTIAL</a:t>
            </a:r>
          </a:p>
        </p:txBody>
      </p:sp>
    </p:spTree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23B4A"/>
        </a:solidFill>
      </p:bgPr>
    </p:bg>
    <p:spTree>
      <p:nvGrpSpPr>
        <p:cNvPr id="1" name=""/>
        <p:cNvGrpSpPr/>
        <p:nvPr/>
      </p:nvGrpSpPr>
      <p:grpSpPr/>
      <p:sp>
        <p:nvSpPr>
          <p:cNvPr id="100090" name="TextBox 1"/>
          <p:cNvSpPr/>
          <p:nvPr/>
        </p:nvSpPr>
        <p:spPr>
          <a:xfrm xmlns:a="http://schemas.openxmlformats.org/drawingml/2006/main">
            <a:off x="504000" y="144000"/>
            <a:ext cx="10440000" cy="34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BEE5E6"/>
                </a:solidFill>
                <a:latin typeface="Calibri"/>
                <a:ea typeface="Calibri"/>
              </a:rPr>
              <a:t>SUNNYSEMI LLC   |   2021-07-20</a:t>
            </a:r>
          </a:p>
        </p:txBody>
      </p:sp>
      <p:sp>
        <p:nvSpPr>
          <p:cNvPr id="100091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FFFFFF"/>
                </a:solidFill>
                <a:latin typeface="Calibri"/>
                <a:ea typeface="Calibri"/>
              </a:rPr>
              <a:t>Decision requested and authority retained</a:t>
            </a:r>
          </a:p>
        </p:txBody>
      </p:sp>
      <p:sp>
        <p:nvSpPr>
          <p:cNvPr id="100092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Approve milestone-based capacity releases; retain existing commercial approval limits and require Finance and Engineering sign-off before each increment.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Requested; no board approval is recorded in this briefing.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No cash balance, debt balance, free-cash-flow measure or forecast is included.</a:t>
            </a:r>
          </a:p>
        </p:txBody>
      </p:sp>
      <p:sp>
        <p:nvSpPr>
          <p:cNvPr id="100093" name="TextBox 4"/>
          <p:cNvSpPr/>
          <p:nvPr/>
        </p:nvSpPr>
        <p:spPr>
          <a:xfrm xmlns:a="http://schemas.openxmlformats.org/drawingml/2006/main">
            <a:off x="7236000" y="2268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00094" name="TextBox 5"/>
          <p:cNvSpPr/>
          <p:nvPr/>
        </p:nvSpPr>
        <p:spPr>
          <a:xfrm xmlns:a="http://schemas.openxmlformats.org/drawingml/2006/main">
            <a:off x="7920000" y="2268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Board direction</a:t>
            </a:r>
          </a:p>
        </p:txBody>
      </p:sp>
      <p:sp>
        <p:nvSpPr>
          <p:cNvPr id="100095" name="TextBox 6"/>
          <p:cNvSpPr/>
          <p:nvPr/>
        </p:nvSpPr>
        <p:spPr>
          <a:xfrm xmlns:a="http://schemas.openxmlformats.org/drawingml/2006/main">
            <a:off x="7236000" y="3480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00096" name="TextBox 7"/>
          <p:cNvSpPr/>
          <p:nvPr/>
        </p:nvSpPr>
        <p:spPr>
          <a:xfrm xmlns:a="http://schemas.openxmlformats.org/drawingml/2006/main">
            <a:off x="7920000" y="3480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Engineering evidence</a:t>
            </a:r>
          </a:p>
        </p:txBody>
      </p:sp>
      <p:sp>
        <p:nvSpPr>
          <p:cNvPr id="100097" name="TextBox 8"/>
          <p:cNvSpPr/>
          <p:nvPr/>
        </p:nvSpPr>
        <p:spPr>
          <a:xfrm xmlns:a="http://schemas.openxmlformats.org/drawingml/2006/main">
            <a:off x="7236000" y="4692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100098" name="TextBox 9"/>
          <p:cNvSpPr/>
          <p:nvPr/>
        </p:nvSpPr>
        <p:spPr>
          <a:xfrm xmlns:a="http://schemas.openxmlformats.org/drawingml/2006/main">
            <a:off x="7920000" y="4692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Finance release</a:t>
            </a:r>
          </a:p>
        </p:txBody>
      </p:sp>
      <p:sp>
        <p:nvSpPr>
          <p:cNvPr id="100099" name="TextBox 10"/>
          <p:cNvSpPr/>
          <p:nvPr/>
        </p:nvSpPr>
        <p:spPr>
          <a:xfrm xmlns:a="http://schemas.openxmlformats.org/drawingml/2006/main">
            <a:off x="504000" y="6444000"/>
            <a:ext cx="11088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BEE5E6"/>
                </a:solidFill>
                <a:latin typeface="Calibri"/>
                <a:ea typeface="Calibri"/>
              </a:rPr>
              <a:t>10  |  BOARD CONFIDENTIAL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OfficeCLI/1.0.157</ap:Application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SunnySemi LLC</dc:creator>
  <dcterms:created xsi:type="dcterms:W3CDTF">2026-10-15T17:18:37.0000000Z</dcterms:created>
  <lastModifiedBy>OfficeCLI</lastModifiedBy>
  <dcterms:modified xsi:type="dcterms:W3CDTF">2026-10-15T17:18:38.8558753Z</dcterms:modified>
  <dc:title>SunnySemi LLC - 2021 Midyear Performance and Capacity Decisions</dc:title>
</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1.0.157</vt:lpwstr>
  </op:property>
  <op:property fmtid="{D5CDD505-2E9C-101B-9397-08002B2CF9AE}" pid="3" name="OfficeCLI.LastModified">
    <vt:lpwstr xmlns:vt="http://schemas.openxmlformats.org/officeDocument/2006/docPropsVTypes">2026-10-15T17:18:39Z</vt:lpwstr>
  </op:property>
</op:Properties>
</file>