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45fac3192eab40d7" /><Relationship Type="http://schemas.openxmlformats.org/package/2006/relationships/metadata/core-properties" Target="/docProps/core.xml" Id="Rabac032909874a4b" /><Relationship Type="http://schemas.openxmlformats.org/officeDocument/2006/relationships/extended-properties" Target="/docProps/app.xml" Id="Ra30afbfaaf0641cd" /><Relationship Type="http://schemas.openxmlformats.org/officeDocument/2006/relationships/custom-properties" Target="/docProps/custom.xml" Id="R2db313ccdfed4071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88bcc96dbb1447a2"/>
  </p:notesMasterIdLst>
  <p:sldIdLst>
    <p:sldId id="256" r:id="R5ef3c8c14c334ffc"/>
    <p:sldId id="257" r:id="R94df29d453094dcf"/>
    <p:sldId id="258" r:id="Rf2c9e28e9d3242a5"/>
    <p:sldId id="259" r:id="Rbac0d9c34d684108"/>
    <p:sldId id="260" r:id="R90aefc83f9894e82"/>
    <p:sldId id="261" r:id="Raef9f953628e4e3a"/>
    <p:sldId id="262" r:id="R131bf88cf41146cc"/>
    <p:sldId id="263" r:id="Rd8dacd01ce654afa"/>
    <p:sldId id="264" r:id="R827b6ca73dda4f76"/>
    <p:sldId id="265" r:id="R4d2e4e3b389247b8"/>
  </p:sldIdLst>
  <p:sldSz cx="12192120" cy="6858000" type="custom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ef3c8c14c334ffc" /><Relationship Type="http://schemas.openxmlformats.org/officeDocument/2006/relationships/notesMaster" Target="/ppt/notesMasters/notesMaster1.xml" Id="R88bcc96dbb1447a2" /><Relationship Type="http://schemas.openxmlformats.org/officeDocument/2006/relationships/slide" Target="/ppt/slides/slide2.xml" Id="R94df29d453094dcf" /><Relationship Type="http://schemas.openxmlformats.org/officeDocument/2006/relationships/slide" Target="/ppt/slides/slide3.xml" Id="Rf2c9e28e9d3242a5" /><Relationship Type="http://schemas.openxmlformats.org/officeDocument/2006/relationships/slide" Target="/ppt/slides/slide4.xml" Id="Rbac0d9c34d684108" /><Relationship Type="http://schemas.openxmlformats.org/officeDocument/2006/relationships/slide" Target="/ppt/slides/slide5.xml" Id="R90aefc83f9894e82" /><Relationship Type="http://schemas.openxmlformats.org/officeDocument/2006/relationships/slide" Target="/ppt/slides/slide6.xml" Id="Raef9f953628e4e3a" /><Relationship Type="http://schemas.openxmlformats.org/officeDocument/2006/relationships/slide" Target="/ppt/slides/slide7.xml" Id="R131bf88cf41146cc" /><Relationship Type="http://schemas.openxmlformats.org/officeDocument/2006/relationships/slide" Target="/ppt/slides/slide8.xml" Id="Rd8dacd01ce654afa" /><Relationship Type="http://schemas.openxmlformats.org/officeDocument/2006/relationships/slide" Target="/ppt/slides/slide9.xml" Id="R827b6ca73dda4f76" /><Relationship Type="http://schemas.openxmlformats.org/officeDocument/2006/relationships/slide" Target="/ppt/slides/slide10.xml" Id="R4d2e4e3b389247b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e2d18c89dfda4fed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9010fc0ccef43f6" /><Relationship Type="http://schemas.openxmlformats.org/officeDocument/2006/relationships/slide" Target="/ppt/slides/slide1.xml" Id="R05ea3dc327c14e83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d1daa6e9e33e4173" /><Relationship Type="http://schemas.openxmlformats.org/officeDocument/2006/relationships/slide" Target="/ppt/slides/slide2.xml" Id="R1909a257e3594f4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124db77a73a4f76" /><Relationship Type="http://schemas.openxmlformats.org/officeDocument/2006/relationships/slide" Target="/ppt/slides/slide3.xml" Id="Rd70e15c092d6487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be8bdc44b69848e4" /><Relationship Type="http://schemas.openxmlformats.org/officeDocument/2006/relationships/slide" Target="/ppt/slides/slide4.xml" Id="R2de60347b4514b1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10210796f8c42a0" /><Relationship Type="http://schemas.openxmlformats.org/officeDocument/2006/relationships/slide" Target="/ppt/slides/slide5.xml" Id="Rff803ed03aa64a3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484c04cf89c4899" /><Relationship Type="http://schemas.openxmlformats.org/officeDocument/2006/relationships/slide" Target="/ppt/slides/slide6.xml" Id="R1f156429bef5409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9df913ef9cb046dc" /><Relationship Type="http://schemas.openxmlformats.org/officeDocument/2006/relationships/slide" Target="/ppt/slides/slide7.xml" Id="R31de502c71f84deb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8debb74630ec46f1" /><Relationship Type="http://schemas.openxmlformats.org/officeDocument/2006/relationships/slide" Target="/ppt/slides/slide8.xml" Id="R4c46d6e309f342b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4825550d60364c4a" /><Relationship Type="http://schemas.openxmlformats.org/officeDocument/2006/relationships/slide" Target="/ppt/slides/slide9.xml" Id="Ra1faeedc793b456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30409edabf054b55" /><Relationship Type="http://schemas.openxmlformats.org/officeDocument/2006/relationships/slide" Target="/ppt/slides/slide10.xml" Id="R6df30a061b2349f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GulfSwitch 6.0</a:t>
            </a:r>
          </a:p>
          <a:p xmlns:a="http://schemas.openxmlformats.org/drawingml/2006/main">
            <a:r>
              <a:rPr lang="en-US"/>
              <a:t>launched | 2025-08-15</a:t>
            </a:r>
          </a:p>
          <a:p xmlns:a="http://schemas.openxmlformats.org/drawingml/2006/main">
            <a:r>
              <a:rPr lang="en-US"/>
              <a:t>Tampa, Florida</a:t>
            </a:r>
          </a:p>
          <a:p xmlns:a="http://schemas.openxmlformats.org/drawingml/2006/main">
            <a:r>
              <a:rPr lang="en-US"/>
              <a:t>Quinn Mercer, Product Director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digitally supervised multiphase power control with a documented PMBus subset</a:t>
            </a:r>
          </a:p>
          <a:p xmlns:a="http://schemas.openxmlformats.org/drawingml/2006/main">
            <a:r>
              <a:rPr lang="en-US"/>
              <a:t>Evaluate the reference board, confirm interface behavior, complete workload and thermal validation, then approve the production configuration.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100 V maximum rated input</a:t>
            </a:r>
          </a:p>
          <a:p xmlns:a="http://schemas.openxmlformats.org/drawingml/2006/main">
            <a:r>
              <a:rPr lang="en-US"/>
              <a:t>24 A reference-stage output</a:t>
            </a:r>
          </a:p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r>
              <a:rPr lang="en-US"/>
              <a:t>Keep the host boundary and the version-matched component configuration explicit.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high-density edge systems</a:t>
            </a:r>
          </a:p>
          <a:p xmlns:a="http://schemas.openxmlformats.org/drawingml/2006/main">
            <a:r>
              <a:rPr lang="en-US"/>
              <a:t>industrial controller power stages</a:t>
            </a:r>
          </a:p>
          <a:p xmlns:a="http://schemas.openxmlformats.org/drawingml/2006/main">
            <a:r>
              <a:rPr lang="en-US"/>
              <a:t>embedded compute carrier boards</a:t>
            </a:r>
          </a:p>
          <a:p xmlns:a="http://schemas.openxmlformats.org/drawingml/2006/main">
            <a:r>
              <a:rPr lang="en-US"/>
              <a:t>Validate each use case against the intended system, not the product label.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r>
              <a:rPr lang="en-US"/>
              <a:t>release-controlled adoption and milestone-based production support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r>
              <a:rPr lang="en-US"/>
              <a:t>97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r>
              <a:rPr lang="en-US"/>
              <a:t>No regulatory certification, customer benchmark or customer endorsement is asserted.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r>
              <a:rPr lang="en-US"/>
              <a:t>Pricing and contractual lead times are supplied through customer-specific quotations.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Request the version-matched evaluation kit and interface pack from applications@sunnysemi.example.</a:t>
            </a:r>
          </a:p>
          <a:p xmlns:a="http://schemas.openxmlformats.org/drawingml/2006/main">
            <a:r>
              <a:rPr lang="en-US"/>
              <a:t>Agree the target workload, host interface, thermal boundary and qualification evidence before scheduling production adoption. Keep the stated operating and authority boundaries explicit.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1a67fb07694535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3acd615405481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8bdbbac9b1b46f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f5cbb7a8bb4a94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8d91d34d6b949f3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40da315250ad4e85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efa192b25e4f2c" /><Relationship Type="http://schemas.openxmlformats.org/officeDocument/2006/relationships/notesSlide" Target="/ppt/notesSlides/notesSlide1.xml" Id="R4239eb4b76ea4c5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27f6d834a549d5" /><Relationship Type="http://schemas.openxmlformats.org/officeDocument/2006/relationships/notesSlide" Target="/ppt/notesSlides/notesSlide2.xml" Id="Raf1499702980434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30d3d921f44a8d" /><Relationship Type="http://schemas.openxmlformats.org/officeDocument/2006/relationships/notesSlide" Target="/ppt/notesSlides/notesSlide3.xml" Id="R259f0959f3cd454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13dae637794ab1" /><Relationship Type="http://schemas.openxmlformats.org/officeDocument/2006/relationships/notesSlide" Target="/ppt/notesSlides/notesSlide4.xml" Id="R359702284b814f5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1af49e240c47e1" /><Relationship Type="http://schemas.openxmlformats.org/officeDocument/2006/relationships/notesSlide" Target="/ppt/notesSlides/notesSlide5.xml" Id="R1f0b4be81389409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4a9a2492f44a86" /><Relationship Type="http://schemas.openxmlformats.org/officeDocument/2006/relationships/notesSlide" Target="/ppt/notesSlides/notesSlide6.xml" Id="Rc11f9759655f46c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4d97bff7c04af1" /><Relationship Type="http://schemas.openxmlformats.org/officeDocument/2006/relationships/notesSlide" Target="/ppt/notesSlides/notesSlide7.xml" Id="R0117d79620f447b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df813460ae4621" /><Relationship Type="http://schemas.openxmlformats.org/officeDocument/2006/relationships/notesSlide" Target="/ppt/notesSlides/notesSlide8.xml" Id="R7dc924865484447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e5286958384f85" /><Relationship Type="http://schemas.openxmlformats.org/officeDocument/2006/relationships/notesSlide" Target="/ppt/notesSlides/notesSlide9.xml" Id="R5759e65f7d57446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719c6970934a0f" /><Relationship Type="http://schemas.openxmlformats.org/officeDocument/2006/relationships/notesSlide" Target="/ppt/notesSlides/notesSlide10.xml" Id="R59d54d94de384a3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0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0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SunnySemi LLC - GulfSwitch 6.0 - Power Stage Adoption</a:t>
            </a:r>
          </a:p>
        </p:txBody>
      </p:sp>
      <p:sp>
        <p:nvSpPr>
          <p:cNvPr id="10000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GulfSwitch 6.0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launched | 2025-08-15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Tampa, Florida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Quinn Mercer, Product Director</a:t>
            </a:r>
          </a:p>
        </p:txBody>
      </p:sp>
      <p:sp>
        <p:nvSpPr>
          <p:cNvPr id="10000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0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Released silicon</a:t>
            </a:r>
          </a:p>
        </p:txBody>
      </p:sp>
      <p:sp>
        <p:nvSpPr>
          <p:cNvPr id="10000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0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</a:t>
            </a:r>
          </a:p>
        </p:txBody>
      </p:sp>
      <p:sp>
        <p:nvSpPr>
          <p:cNvPr id="10000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0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</a:t>
            </a:r>
          </a:p>
        </p:txBody>
      </p:sp>
      <p:sp>
        <p:nvSpPr>
          <p:cNvPr id="10000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01  |  PRODUCT BRIEFING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1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1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Start with the equipment boundary</a:t>
            </a:r>
          </a:p>
        </p:txBody>
      </p:sp>
      <p:sp>
        <p:nvSpPr>
          <p:cNvPr id="10001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embedded boards need controlled power sequencing and observable fault behavior without losing sight of board-level thermal limits.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1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1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Workload</a:t>
            </a:r>
          </a:p>
        </p:txBody>
      </p:sp>
      <p:sp>
        <p:nvSpPr>
          <p:cNvPr id="10001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1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Power</a:t>
            </a:r>
          </a:p>
        </p:txBody>
      </p:sp>
      <p:sp>
        <p:nvSpPr>
          <p:cNvPr id="10001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1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Integration</a:t>
            </a:r>
          </a:p>
        </p:txBody>
      </p:sp>
      <p:sp>
        <p:nvSpPr>
          <p:cNvPr id="10001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02  |  PRODUCT BRIEFING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2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2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 component and a qualification path</a:t>
            </a:r>
          </a:p>
        </p:txBody>
      </p:sp>
      <p:sp>
        <p:nvSpPr>
          <p:cNvPr id="10002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digitally supervised multiphase power control with a documented PMBus subset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 the reference board, confirm interface behavior, complete workload and thermal validation, then approve the production configuration.</a:t>
            </a:r>
          </a:p>
        </p:txBody>
      </p:sp>
      <p:sp>
        <p:nvSpPr>
          <p:cNvPr id="10002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2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Reference platform</a:t>
            </a:r>
          </a:p>
        </p:txBody>
      </p:sp>
      <p:sp>
        <p:nvSpPr>
          <p:cNvPr id="100025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26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Acceptance evidence</a:t>
            </a:r>
          </a:p>
        </p:txBody>
      </p:sp>
      <p:sp>
        <p:nvSpPr>
          <p:cNvPr id="100027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28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configuration</a:t>
            </a:r>
          </a:p>
        </p:txBody>
      </p:sp>
      <p:sp>
        <p:nvSpPr>
          <p:cNvPr id="100029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03  |  PRODUCT BRIEFING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0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31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The published operating envelope</a:t>
            </a:r>
          </a:p>
        </p:txBody>
      </p:sp>
      <p:sp>
        <p:nvSpPr>
          <p:cNvPr id="100032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100 V maximum rated input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A reference-stage output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</p:txBody>
      </p:sp>
      <p:sp>
        <p:nvSpPr>
          <p:cNvPr id="100033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34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100 V maximum rated input</a:t>
            </a:r>
          </a:p>
        </p:txBody>
      </p:sp>
      <p:sp>
        <p:nvSpPr>
          <p:cNvPr id="100035" name="TextBox 6"/>
          <p:cNvSpPr/>
          <p:nvPr/>
        </p:nvSpPr>
        <p:spPr>
          <a:xfrm xmlns:a="http://schemas.openxmlformats.org/drawingml/2006/main">
            <a:off x="7236000" y="4086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36" name="TextBox 7"/>
          <p:cNvSpPr/>
          <p:nvPr/>
        </p:nvSpPr>
        <p:spPr>
          <a:xfrm xmlns:a="http://schemas.openxmlformats.org/drawingml/2006/main">
            <a:off x="7920000" y="4086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24 A reference-stage output</a:t>
            </a:r>
          </a:p>
        </p:txBody>
      </p:sp>
      <p:sp>
        <p:nvSpPr>
          <p:cNvPr id="100037" name="TextBox 8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04  |  PRODUCT BRIEFING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3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3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What the interface enables</a:t>
            </a:r>
          </a:p>
        </p:txBody>
      </p:sp>
      <p:sp>
        <p:nvSpPr>
          <p:cNvPr id="10004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Configure the power stage, sequence rails, observe telemetry, and handle protection events through the documented host command interface.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Keep the host boundary and the version-matched component configuration explicit.</a:t>
            </a:r>
          </a:p>
        </p:txBody>
      </p:sp>
      <p:sp>
        <p:nvSpPr>
          <p:cNvPr id="10004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4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Host interface</a:t>
            </a:r>
          </a:p>
        </p:txBody>
      </p:sp>
      <p:sp>
        <p:nvSpPr>
          <p:cNvPr id="10004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4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execution</a:t>
            </a:r>
          </a:p>
        </p:txBody>
      </p:sp>
      <p:sp>
        <p:nvSpPr>
          <p:cNvPr id="10004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4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Status and results</a:t>
            </a:r>
          </a:p>
        </p:txBody>
      </p:sp>
      <p:sp>
        <p:nvSpPr>
          <p:cNvPr id="10004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05  |  PRODUCT BRIEFING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4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4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Application paths to evaluate</a:t>
            </a:r>
          </a:p>
        </p:txBody>
      </p:sp>
      <p:sp>
        <p:nvSpPr>
          <p:cNvPr id="10005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Validate each use case against the intended system, not the product label.</a:t>
            </a:r>
          </a:p>
        </p:txBody>
      </p:sp>
      <p:sp>
        <p:nvSpPr>
          <p:cNvPr id="10005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5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high-density edge systems</a:t>
            </a:r>
          </a:p>
        </p:txBody>
      </p:sp>
      <p:sp>
        <p:nvSpPr>
          <p:cNvPr id="10005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5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industrial controller power stages</a:t>
            </a:r>
          </a:p>
        </p:txBody>
      </p:sp>
      <p:sp>
        <p:nvSpPr>
          <p:cNvPr id="10005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5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embedded compute carrier boards</a:t>
            </a:r>
          </a:p>
        </p:txBody>
      </p:sp>
      <p:sp>
        <p:nvSpPr>
          <p:cNvPr id="10005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06  |  PRODUCT BRIEFING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5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5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Integration is a shared responsibility</a:t>
            </a:r>
          </a:p>
        </p:txBody>
      </p:sp>
      <p:sp>
        <p:nvSpPr>
          <p:cNvPr id="10006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release-controlled adoption and milestone-based production support</a:t>
            </a:r>
          </a:p>
        </p:txBody>
      </p:sp>
      <p:sp>
        <p:nvSpPr>
          <p:cNvPr id="10006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6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Customer workload</a:t>
            </a:r>
          </a:p>
        </p:txBody>
      </p:sp>
      <p:sp>
        <p:nvSpPr>
          <p:cNvPr id="10006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6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SunnySemi evidence</a:t>
            </a:r>
          </a:p>
        </p:txBody>
      </p:sp>
      <p:sp>
        <p:nvSpPr>
          <p:cNvPr id="10006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6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Joint qualification</a:t>
            </a:r>
          </a:p>
        </p:txBody>
      </p:sp>
      <p:sp>
        <p:nvSpPr>
          <p:cNvPr id="10006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07  |  PRODUCT BRIEFING</a:t>
            </a:r>
          </a:p>
        </p:txBody>
      </p:sp>
    </p:spTree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6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6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Boundaries that must stay visible</a:t>
            </a:r>
          </a:p>
        </p:txBody>
      </p:sp>
      <p:sp>
        <p:nvSpPr>
          <p:cNvPr id="10007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Efficiency applies only to the stated reference-stage operating point. External switches, inductors, cooling and layout remain customer design responsibilities.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97 percent reference-stage efficiency: 48 V input, 12 V output, half rated reference-stage load, 25 degrees Celsius ambient; excludes host and enclosure losses.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No regulatory certification, customer benchmark or customer endorsement is asserted.</a:t>
            </a:r>
          </a:p>
        </p:txBody>
      </p:sp>
      <p:sp>
        <p:nvSpPr>
          <p:cNvPr id="10007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7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Component scope</a:t>
            </a:r>
          </a:p>
        </p:txBody>
      </p:sp>
      <p:sp>
        <p:nvSpPr>
          <p:cNvPr id="10007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7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Board scope</a:t>
            </a:r>
          </a:p>
        </p:txBody>
      </p:sp>
      <p:sp>
        <p:nvSpPr>
          <p:cNvPr id="10007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7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System scope</a:t>
            </a:r>
          </a:p>
        </p:txBody>
      </p:sp>
      <p:sp>
        <p:nvSpPr>
          <p:cNvPr id="10007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08  |  PRODUCT BRIEFING</a:t>
            </a:r>
          </a:p>
        </p:txBody>
      </p:sp>
    </p:spTree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BFB"/>
        </a:solidFill>
      </p:bgPr>
    </p:bg>
    <p:spTree>
      <p:nvGrpSpPr>
        <p:cNvPr id="1" name=""/>
        <p:cNvGrpSpPr/>
        <p:nvPr/>
      </p:nvGrpSpPr>
      <p:grpSpPr/>
      <p:sp>
        <p:nvSpPr>
          <p:cNvPr id="10007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087E8B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7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172F38"/>
                </a:solidFill>
                <a:latin typeface="Calibri"/>
                <a:ea typeface="Calibri"/>
              </a:rPr>
              <a:t>Plan adoption around release evidence</a:t>
            </a:r>
          </a:p>
        </p:txBody>
      </p:sp>
      <p:sp>
        <p:nvSpPr>
          <p:cNvPr id="10008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Production orders and version-matched evaluation kits are available from the launch date, subject to quotation and allocation.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Pricing and contractual lead times are supplied through customer-specific quotations.</a:t>
            </a:r>
          </a:p>
        </p:txBody>
      </p:sp>
      <p:sp>
        <p:nvSpPr>
          <p:cNvPr id="10008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8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Evaluate</a:t>
            </a:r>
          </a:p>
        </p:txBody>
      </p:sp>
      <p:sp>
        <p:nvSpPr>
          <p:cNvPr id="10008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8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Agree configuration</a:t>
            </a:r>
          </a:p>
        </p:txBody>
      </p:sp>
      <p:sp>
        <p:nvSpPr>
          <p:cNvPr id="10008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8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172F38"/>
                </a:solidFill>
                <a:latin typeface="Calibri"/>
                <a:ea typeface="Calibri"/>
              </a:rPr>
              <a:t>Quote and allocate</a:t>
            </a:r>
          </a:p>
        </p:txBody>
      </p:sp>
      <p:sp>
        <p:nvSpPr>
          <p:cNvPr id="10008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087E8B"/>
                </a:solidFill>
                <a:latin typeface="Calibri"/>
                <a:ea typeface="Calibri"/>
              </a:rPr>
              <a:t>09  |  PRODUCT BRIEFING</a:t>
            </a:r>
          </a:p>
        </p:txBody>
      </p:sp>
    </p:spTree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23B4A"/>
        </a:solidFill>
      </p:bgPr>
    </p:bg>
    <p:spTree>
      <p:nvGrpSpPr>
        <p:cNvPr id="1" name=""/>
        <p:cNvGrpSpPr/>
        <p:nvPr/>
      </p:nvGrpSpPr>
      <p:grpSpPr/>
      <p:sp>
        <p:nvSpPr>
          <p:cNvPr id="100088" name="TextBox 1"/>
          <p:cNvSpPr/>
          <p:nvPr/>
        </p:nvSpPr>
        <p:spPr>
          <a:xfrm xmlns:a="http://schemas.openxmlformats.org/drawingml/2006/main">
            <a:off x="504000" y="144000"/>
            <a:ext cx="10440000" cy="34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100">
                <a:solidFill>
                  <a:srgbClr val="BEE5E6"/>
                </a:solidFill>
                <a:latin typeface="Calibri"/>
                <a:ea typeface="Calibri"/>
              </a:rPr>
              <a:t>SUNNYSEMI LLC   |   2025-08-22</a:t>
            </a:r>
          </a:p>
        </p:txBody>
      </p:sp>
      <p:sp>
        <p:nvSpPr>
          <p:cNvPr id="100089" name="TextBox 2"/>
          <p:cNvSpPr/>
          <p:nvPr/>
        </p:nvSpPr>
        <p:spPr>
          <a:xfrm xmlns:a="http://schemas.openxmlformats.org/drawingml/2006/main">
            <a:off x="504000" y="504000"/>
            <a:ext cx="11088000" cy="1512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3600" b="1">
                <a:solidFill>
                  <a:srgbClr val="FFFFFF"/>
                </a:solidFill>
                <a:latin typeface="Calibri"/>
                <a:ea typeface="Calibri"/>
              </a:rPr>
              <a:t>Begin with a version-matched evaluation</a:t>
            </a:r>
          </a:p>
        </p:txBody>
      </p:sp>
      <p:sp>
        <p:nvSpPr>
          <p:cNvPr id="100090" name="TextBox 3"/>
          <p:cNvSpPr/>
          <p:nvPr/>
        </p:nvSpPr>
        <p:spPr>
          <a:xfrm xmlns:a="http://schemas.openxmlformats.org/drawingml/2006/main">
            <a:off x="504000" y="2196000"/>
            <a:ext cx="6192000" cy="388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Request the version-matched evaluation kit and interface pack from applications@sunnysemi.example.</a:t>
            </a:r>
          </a:p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Agree the target workload, host interface, thermal boundary and qualification evidence before scheduling production adoption.</a:t>
            </a:r>
          </a:p>
        </p:txBody>
      </p:sp>
      <p:sp>
        <p:nvSpPr>
          <p:cNvPr id="100091" name="TextBox 4"/>
          <p:cNvSpPr/>
          <p:nvPr/>
        </p:nvSpPr>
        <p:spPr>
          <a:xfrm xmlns:a="http://schemas.openxmlformats.org/drawingml/2006/main">
            <a:off x="7236000" y="2268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1</a:t>
            </a:r>
          </a:p>
        </p:txBody>
      </p:sp>
      <p:sp>
        <p:nvSpPr>
          <p:cNvPr id="100092" name="TextBox 5"/>
          <p:cNvSpPr/>
          <p:nvPr/>
        </p:nvSpPr>
        <p:spPr>
          <a:xfrm xmlns:a="http://schemas.openxmlformats.org/drawingml/2006/main">
            <a:off x="7920000" y="2268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Evaluation kit</a:t>
            </a:r>
          </a:p>
        </p:txBody>
      </p:sp>
      <p:sp>
        <p:nvSpPr>
          <p:cNvPr id="100093" name="TextBox 6"/>
          <p:cNvSpPr/>
          <p:nvPr/>
        </p:nvSpPr>
        <p:spPr>
          <a:xfrm xmlns:a="http://schemas.openxmlformats.org/drawingml/2006/main">
            <a:off x="7236000" y="3480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2</a:t>
            </a:r>
          </a:p>
        </p:txBody>
      </p:sp>
      <p:sp>
        <p:nvSpPr>
          <p:cNvPr id="100094" name="TextBox 7"/>
          <p:cNvSpPr/>
          <p:nvPr/>
        </p:nvSpPr>
        <p:spPr>
          <a:xfrm xmlns:a="http://schemas.openxmlformats.org/drawingml/2006/main">
            <a:off x="7920000" y="3480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Interface pack</a:t>
            </a:r>
          </a:p>
        </p:txBody>
      </p:sp>
      <p:sp>
        <p:nvSpPr>
          <p:cNvPr id="100095" name="TextBox 8"/>
          <p:cNvSpPr/>
          <p:nvPr/>
        </p:nvSpPr>
        <p:spPr>
          <a:xfrm xmlns:a="http://schemas.openxmlformats.org/drawingml/2006/main">
            <a:off x="7236000" y="4692000"/>
            <a:ext cx="540000" cy="54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87E8B"/>
          </a:solidFill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200" b="1">
                <a:solidFill>
                  <a:srgbClr val="FFFFFF"/>
                </a:solidFill>
                <a:latin typeface="Calibri"/>
                <a:ea typeface="Calibri"/>
              </a:rPr>
              <a:t>3</a:t>
            </a:r>
          </a:p>
        </p:txBody>
      </p:sp>
      <p:sp>
        <p:nvSpPr>
          <p:cNvPr id="100096" name="TextBox 9"/>
          <p:cNvSpPr/>
          <p:nvPr/>
        </p:nvSpPr>
        <p:spPr>
          <a:xfrm xmlns:a="http://schemas.openxmlformats.org/drawingml/2006/main">
            <a:off x="7920000" y="4692000"/>
            <a:ext cx="3528000" cy="1008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2000">
                <a:solidFill>
                  <a:srgbClr val="FFFFFF"/>
                </a:solidFill>
                <a:latin typeface="Calibri"/>
                <a:ea typeface="Calibri"/>
              </a:rPr>
              <a:t>Qualification plan</a:t>
            </a:r>
          </a:p>
        </p:txBody>
      </p:sp>
      <p:sp>
        <p:nvSpPr>
          <p:cNvPr id="100097" name="TextBox 10"/>
          <p:cNvSpPr/>
          <p:nvPr/>
        </p:nvSpPr>
        <p:spPr>
          <a:xfrm xmlns:a="http://schemas.openxmlformats.org/drawingml/2006/main">
            <a:off x="504000" y="6444000"/>
            <a:ext cx="11088000" cy="3240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/>
            <a:r>
              <a:rPr lang="en-US" sz="1000">
                <a:solidFill>
                  <a:srgbClr val="BEE5E6"/>
                </a:solidFill>
                <a:latin typeface="Calibri"/>
                <a:ea typeface="Calibri"/>
              </a:rPr>
              <a:t>10  |  PRODUCT BRIEFING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OfficeCLI/1.0.157</ap:Application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SunnySemi LLC</dc:creator>
  <dcterms:created xsi:type="dcterms:W3CDTF">2026-10-15T17:16:14.0000000Z</dcterms:created>
  <lastModifiedBy>OfficeCLI</lastModifiedBy>
  <dcterms:modified xsi:type="dcterms:W3CDTF">2026-10-15T17:16:16.5004161Z</dcterms:modified>
  <dc:title>SunnySemi LLC - GulfSwitch 6.0 - Power Stage Adoption</dc:title>
</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1.0.157</vt:lpwstr>
  </op:property>
  <op:property fmtid="{D5CDD505-2E9C-101B-9397-08002B2CF9AE}" pid="3" name="OfficeCLI.LastModified">
    <vt:lpwstr xmlns:vt="http://schemas.openxmlformats.org/officeDocument/2006/docPropsVTypes">2026-10-15T17:16:17Z</vt:lpwstr>
  </op:property>
</op:Properties>
</file>