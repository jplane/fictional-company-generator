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e433fef73314bec" /><Relationship Type="http://schemas.openxmlformats.org/package/2006/relationships/metadata/core-properties" Target="/docProps/core.xml" Id="R1c6fe9552eea4625" /><Relationship Type="http://schemas.openxmlformats.org/officeDocument/2006/relationships/extended-properties" Target="/docProps/app.xml" Id="Rf53bdc4be4d74a28" /><Relationship Type="http://schemas.openxmlformats.org/officeDocument/2006/relationships/custom-properties" Target="/docProps/custom.xml" Id="R640653d30cfc4a1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8c1f7c18c9ba402d"/>
  </p:notesMasterIdLst>
  <p:sldIdLst>
    <p:sldId id="256" r:id="Rcaf758c333374363"/>
    <p:sldId id="257" r:id="R92c1eac1dab94fc0"/>
    <p:sldId id="258" r:id="R07befdfb225547cf"/>
    <p:sldId id="259" r:id="R81d10fbbb79e4a8a"/>
    <p:sldId id="260" r:id="Rb7b1901a1edc4bf8"/>
    <p:sldId id="261" r:id="R6de1d20c2c484ffe"/>
    <p:sldId id="262" r:id="R9903cb4d25b04915"/>
    <p:sldId id="263" r:id="Rf5c2e043b1ab4633"/>
    <p:sldId id="264" r:id="Raa9baac1d12e46e3"/>
    <p:sldId id="265" r:id="Ra78af93d5f6c4050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af758c333374363" /><Relationship Type="http://schemas.openxmlformats.org/officeDocument/2006/relationships/notesMaster" Target="/ppt/notesMasters/notesMaster1.xml" Id="R8c1f7c18c9ba402d" /><Relationship Type="http://schemas.openxmlformats.org/officeDocument/2006/relationships/slide" Target="/ppt/slides/slide2.xml" Id="R92c1eac1dab94fc0" /><Relationship Type="http://schemas.openxmlformats.org/officeDocument/2006/relationships/slide" Target="/ppt/slides/slide3.xml" Id="R07befdfb225547cf" /><Relationship Type="http://schemas.openxmlformats.org/officeDocument/2006/relationships/slide" Target="/ppt/slides/slide4.xml" Id="R81d10fbbb79e4a8a" /><Relationship Type="http://schemas.openxmlformats.org/officeDocument/2006/relationships/slide" Target="/ppt/slides/slide5.xml" Id="Rb7b1901a1edc4bf8" /><Relationship Type="http://schemas.openxmlformats.org/officeDocument/2006/relationships/slide" Target="/ppt/slides/slide6.xml" Id="R6de1d20c2c484ffe" /><Relationship Type="http://schemas.openxmlformats.org/officeDocument/2006/relationships/slide" Target="/ppt/slides/slide7.xml" Id="R9903cb4d25b04915" /><Relationship Type="http://schemas.openxmlformats.org/officeDocument/2006/relationships/slide" Target="/ppt/slides/slide8.xml" Id="Rf5c2e043b1ab4633" /><Relationship Type="http://schemas.openxmlformats.org/officeDocument/2006/relationships/slide" Target="/ppt/slides/slide9.xml" Id="Raa9baac1d12e46e3" /><Relationship Type="http://schemas.openxmlformats.org/officeDocument/2006/relationships/slide" Target="/ppt/slides/slide10.xml" Id="Ra78af93d5f6c40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608aee79355455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0065bf29c8f46e3" /><Relationship Type="http://schemas.openxmlformats.org/officeDocument/2006/relationships/slide" Target="/ppt/slides/slide1.xml" Id="R799959f8f74a4a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23560a44c2f47bb" /><Relationship Type="http://schemas.openxmlformats.org/officeDocument/2006/relationships/slide" Target="/ppt/slides/slide2.xml" Id="Rae244532c3ca46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5a618fc79e04d5b" /><Relationship Type="http://schemas.openxmlformats.org/officeDocument/2006/relationships/slide" Target="/ppt/slides/slide3.xml" Id="R32608bf0efba47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56e722f95884c31" /><Relationship Type="http://schemas.openxmlformats.org/officeDocument/2006/relationships/slide" Target="/ppt/slides/slide4.xml" Id="R05f2be5087c84b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f8d8ed7a7bd4978" /><Relationship Type="http://schemas.openxmlformats.org/officeDocument/2006/relationships/slide" Target="/ppt/slides/slide5.xml" Id="Re139e178176741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2f1e36beda94882" /><Relationship Type="http://schemas.openxmlformats.org/officeDocument/2006/relationships/slide" Target="/ppt/slides/slide6.xml" Id="R721733cacb3543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829592dc3474b21" /><Relationship Type="http://schemas.openxmlformats.org/officeDocument/2006/relationships/slide" Target="/ppt/slides/slide7.xml" Id="Rdcb67b537dac43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324fb726592484b" /><Relationship Type="http://schemas.openxmlformats.org/officeDocument/2006/relationships/slide" Target="/ppt/slides/slide8.xml" Id="Ra5b041ced7c544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3f2ee533eef4d26" /><Relationship Type="http://schemas.openxmlformats.org/officeDocument/2006/relationships/slide" Target="/ppt/slides/slide9.xml" Id="R8384af8184c545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143cb51b2b04991" /><Relationship Type="http://schemas.openxmlformats.org/officeDocument/2006/relationships/slide" Target="/ppt/slides/slide10.xml" Id="R618d1b4482b94c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GulfSwitch 3.0</a:t>
            </a:r>
          </a:p>
          <a:p xmlns:a="http://schemas.openxmlformats.org/drawingml/2006/main">
            <a:r>
              <a:rPr lang="en-US"/>
              <a:t>launched | 2022-08-15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Quinn Mercer, Product Director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High-density embedded boards need controlled power sequencing and observable fault behavior without losing sight of board-level thermal limits.</a:t>
            </a:r>
          </a:p>
          <a:p xmlns:a="http://schemas.openxmlformats.org/drawingml/2006/main">
            <a:r>
              <a:rPr lang="en-US"/>
              <a:t>Efficiency applies only to the stated reference-stage operating point. External switches, inductors, cooling and layout remain customer design responsibilities.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digitally supervised multiphase power control with a documented PMBus subset</a:t>
            </a:r>
          </a:p>
          <a:p xmlns:a="http://schemas.openxmlformats.org/drawingml/2006/main">
            <a:r>
              <a:rPr lang="en-US"/>
              <a:t>Evaluate the reference board, confirm interface behavior, complete workload and thermal validation, then approve the production configuration.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60 V maximum rated input</a:t>
            </a:r>
          </a:p>
          <a:p xmlns:a="http://schemas.openxmlformats.org/drawingml/2006/main">
            <a:r>
              <a:rPr lang="en-US"/>
              <a:t>15 A reference-stage output</a:t>
            </a:r>
          </a:p>
          <a:p xmlns:a="http://schemas.openxmlformats.org/drawingml/2006/main">
            <a:r>
              <a:rPr lang="en-US"/>
              <a:t>Efficiency applies only to the stated reference-stage operating point. External switches, inductors, cooling and layout remain customer design responsibilities.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Configure the power stage, sequence rails, observe telemetry, and handle protection events through the documented host command interface.</a:t>
            </a:r>
          </a:p>
          <a:p xmlns:a="http://schemas.openxmlformats.org/drawingml/2006/main">
            <a:r>
              <a:rPr lang="en-US"/>
              <a:t>Keep the host boundary and the version-matched component configuration explicit.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distributed infrastructure</a:t>
            </a:r>
          </a:p>
          <a:p xmlns:a="http://schemas.openxmlformats.org/drawingml/2006/main">
            <a:r>
              <a:rPr lang="en-US"/>
              <a:t>industrial controller power stages</a:t>
            </a:r>
          </a:p>
          <a:p xmlns:a="http://schemas.openxmlformats.org/drawingml/2006/main">
            <a:r>
              <a:rPr lang="en-US"/>
              <a:t>embedded compute carrier boards</a:t>
            </a:r>
          </a:p>
          <a:p xmlns:a="http://schemas.openxmlformats.org/drawingml/2006/main">
            <a:r>
              <a:rPr lang="en-US"/>
              <a:t>Validate each use case against the intended system, not the product label.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r>
              <a:rPr lang="en-US"/>
              <a:t>package characterization and documented interface compatibility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Efficiency applies only to the stated reference-stage operating point. External switches, inductors, cooling and layout remain customer design responsibilities.</a:t>
            </a:r>
          </a:p>
          <a:p xmlns:a="http://schemas.openxmlformats.org/drawingml/2006/main">
            <a:r>
              <a:rPr lang="en-US"/>
              <a:t>95 percent reference-stage efficiency: 48 V input, 12 V output, half rated reference-stage load, 25 degrees Celsius ambient; excludes host and enclosure losses.</a:t>
            </a:r>
          </a:p>
          <a:p xmlns:a="http://schemas.openxmlformats.org/drawingml/2006/main">
            <a:r>
              <a:rPr lang="en-US"/>
              <a:t>No regulatory certification, customer benchmark or customer endorsement is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r>
              <a:rPr lang="en-US"/>
              <a:t>Pricing and contractual lead times are supplied through customer-specific quotations.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Request the version-matched evaluation kit and interface pack from applications@sunnysemi.example.</a:t>
            </a:r>
          </a:p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4614e714f941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759eb8c1d48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ecb054e4ca49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37e0462e504f6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21bcc9e2c47d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5a90b0ce897472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5c61c282d4254" /><Relationship Type="http://schemas.openxmlformats.org/officeDocument/2006/relationships/notesSlide" Target="/ppt/notesSlides/notesSlide1.xml" Id="Rb536c2156ce443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28673ff344086" /><Relationship Type="http://schemas.openxmlformats.org/officeDocument/2006/relationships/notesSlide" Target="/ppt/notesSlides/notesSlide2.xml" Id="R635d5903b8f349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2e65956b64033" /><Relationship Type="http://schemas.openxmlformats.org/officeDocument/2006/relationships/notesSlide" Target="/ppt/notesSlides/notesSlide3.xml" Id="R96417eab88944c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f0bcd6dee41e5" /><Relationship Type="http://schemas.openxmlformats.org/officeDocument/2006/relationships/notesSlide" Target="/ppt/notesSlides/notesSlide4.xml" Id="R0d048c4a166c44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7de0cb65c48d4" /><Relationship Type="http://schemas.openxmlformats.org/officeDocument/2006/relationships/notesSlide" Target="/ppt/notesSlides/notesSlide5.xml" Id="R0f994d8f016648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c5fe892ce4569" /><Relationship Type="http://schemas.openxmlformats.org/officeDocument/2006/relationships/notesSlide" Target="/ppt/notesSlides/notesSlide6.xml" Id="R9d9656bb1bf34a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04f114d6d42b2" /><Relationship Type="http://schemas.openxmlformats.org/officeDocument/2006/relationships/notesSlide" Target="/ppt/notesSlides/notesSlide7.xml" Id="Rade6b76b58314d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15451192b418f" /><Relationship Type="http://schemas.openxmlformats.org/officeDocument/2006/relationships/notesSlide" Target="/ppt/notesSlides/notesSlide8.xml" Id="Rd95e705f7bef42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b5bd7b7424125" /><Relationship Type="http://schemas.openxmlformats.org/officeDocument/2006/relationships/notesSlide" Target="/ppt/notesSlides/notesSlide9.xml" Id="Ra8cf144ec36b49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1a03a14774ec9" /><Relationship Type="http://schemas.openxmlformats.org/officeDocument/2006/relationships/notesSlide" Target="/ppt/notesSlides/notesSlide10.xml" Id="R58b569e8b52943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2022-08-22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GulfSwitch 3.0 - Power Stage Adoption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GulfSwitch 3.0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launched | 2022-08-15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Quinn Mercer, Product Director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Released silicon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PRODUCT BRIEFING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2022-08-22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Start with the equipment boundary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High-density embedded boards need controlled power sequencing and observable fault behavior without losing sight of board-level thermal limits.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Efficiency applies only to the stated reference-stage operating point. External switches, inductors, cooling and layout remain customer design responsibilities.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Workload</a:t>
            </a: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Power</a:t>
            </a: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Integration</a:t>
            </a:r>
          </a:p>
        </p:txBody>
      </p:sp>
      <p:sp>
        <p:nvSpPr>
          <p:cNvPr id="10001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PRODUCT BRIEFING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2022-08-22</a:t>
            </a:r>
          </a:p>
        </p:txBody>
      </p:sp>
      <p:sp>
        <p:nvSpPr>
          <p:cNvPr id="10002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 component and a qualification path</a:t>
            </a:r>
          </a:p>
        </p:txBody>
      </p:sp>
      <p:sp>
        <p:nvSpPr>
          <p:cNvPr id="10002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digitally supervised multiphase power control with a documented PMBus subset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 the reference board, confirm interface behavior, complete workload and thermal validation, then approve the production configuration.</a:t>
            </a:r>
          </a:p>
        </p:txBody>
      </p:sp>
      <p:sp>
        <p:nvSpPr>
          <p:cNvPr id="10002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2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Reference platform</a:t>
            </a:r>
          </a:p>
        </p:txBody>
      </p:sp>
      <p:sp>
        <p:nvSpPr>
          <p:cNvPr id="10002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2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Acceptance evidence</a:t>
            </a:r>
          </a:p>
        </p:txBody>
      </p:sp>
      <p:sp>
        <p:nvSpPr>
          <p:cNvPr id="10002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2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configuration</a:t>
            </a:r>
          </a:p>
        </p:txBody>
      </p:sp>
      <p:sp>
        <p:nvSpPr>
          <p:cNvPr id="10002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PRODUCT BRIEFING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2022-08-22</a:t>
            </a:r>
          </a:p>
        </p:txBody>
      </p:sp>
      <p:sp>
        <p:nvSpPr>
          <p:cNvPr id="10003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published operating envelope</a:t>
            </a:r>
          </a:p>
        </p:txBody>
      </p:sp>
      <p:sp>
        <p:nvSpPr>
          <p:cNvPr id="10003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60 V maximum rated input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15 A reference-stage output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Efficiency applies only to the stated reference-stage operating point. External switches, inductors, cooling and layout remain customer design responsibilities.</a:t>
            </a:r>
          </a:p>
        </p:txBody>
      </p:sp>
      <p:sp>
        <p:nvSpPr>
          <p:cNvPr id="10003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3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60 V maximum rated input</a:t>
            </a:r>
          </a:p>
        </p:txBody>
      </p:sp>
      <p:sp>
        <p:nvSpPr>
          <p:cNvPr id="100035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36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15 A reference-stage output</a:t>
            </a:r>
          </a:p>
        </p:txBody>
      </p:sp>
      <p:sp>
        <p:nvSpPr>
          <p:cNvPr id="100037" name="TextBox 8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PRODUCT BRIEFING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2022-08-22</a:t>
            </a:r>
          </a:p>
        </p:txBody>
      </p:sp>
      <p:sp>
        <p:nvSpPr>
          <p:cNvPr id="10003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What the interface enables</a:t>
            </a:r>
          </a:p>
        </p:txBody>
      </p:sp>
      <p:sp>
        <p:nvSpPr>
          <p:cNvPr id="10004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Configure the power stage, sequence rails, observe telemetry, and handle protection events through the documented host command interface.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Keep the host boundary and the version-matched component configuration explicit.</a:t>
            </a:r>
          </a:p>
        </p:txBody>
      </p:sp>
      <p:sp>
        <p:nvSpPr>
          <p:cNvPr id="10004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4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Host interface</a:t>
            </a:r>
          </a:p>
        </p:txBody>
      </p:sp>
      <p:sp>
        <p:nvSpPr>
          <p:cNvPr id="10004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4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execution</a:t>
            </a:r>
          </a:p>
        </p:txBody>
      </p:sp>
      <p:sp>
        <p:nvSpPr>
          <p:cNvPr id="10004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4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Status and results</a:t>
            </a:r>
          </a:p>
        </p:txBody>
      </p:sp>
      <p:sp>
        <p:nvSpPr>
          <p:cNvPr id="10004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PRODUCT BRIEFING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2022-08-22</a:t>
            </a:r>
          </a:p>
        </p:txBody>
      </p:sp>
      <p:sp>
        <p:nvSpPr>
          <p:cNvPr id="10004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Application paths to evaluate</a:t>
            </a:r>
          </a:p>
        </p:txBody>
      </p:sp>
      <p:sp>
        <p:nvSpPr>
          <p:cNvPr id="10005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distributed infrastructure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industrial controller power stages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embedded compute carrier boards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Validate each use case against the intended system, not the product label.</a:t>
            </a:r>
          </a:p>
        </p:txBody>
      </p:sp>
      <p:sp>
        <p:nvSpPr>
          <p:cNvPr id="10005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distributed infrastructure</a:t>
            </a:r>
          </a:p>
        </p:txBody>
      </p:sp>
      <p:sp>
        <p:nvSpPr>
          <p:cNvPr id="10005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industrial controller power stages</a:t>
            </a:r>
          </a:p>
        </p:txBody>
      </p:sp>
      <p:sp>
        <p:nvSpPr>
          <p:cNvPr id="10005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5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embedded compute carrier boards</a:t>
            </a:r>
          </a:p>
        </p:txBody>
      </p:sp>
      <p:sp>
        <p:nvSpPr>
          <p:cNvPr id="10005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PRODUCT BRIEFING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2022-08-22</a:t>
            </a:r>
          </a:p>
        </p:txBody>
      </p:sp>
      <p:sp>
        <p:nvSpPr>
          <p:cNvPr id="10005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Integration is a shared responsibility</a:t>
            </a:r>
          </a:p>
        </p:txBody>
      </p:sp>
      <p:sp>
        <p:nvSpPr>
          <p:cNvPr id="10006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package characterization and documented interface compatibility</a:t>
            </a:r>
          </a:p>
        </p:txBody>
      </p:sp>
      <p:sp>
        <p:nvSpPr>
          <p:cNvPr id="10006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workload</a:t>
            </a:r>
          </a:p>
        </p:txBody>
      </p:sp>
      <p:sp>
        <p:nvSpPr>
          <p:cNvPr id="10006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SunnySemi evidence</a:t>
            </a:r>
          </a:p>
        </p:txBody>
      </p:sp>
      <p:sp>
        <p:nvSpPr>
          <p:cNvPr id="10006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Joint qualification</a:t>
            </a:r>
          </a:p>
        </p:txBody>
      </p:sp>
      <p:sp>
        <p:nvSpPr>
          <p:cNvPr id="10006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PRODUCT BRIEFING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2022-08-22</a:t>
            </a:r>
          </a:p>
        </p:txBody>
      </p:sp>
      <p:sp>
        <p:nvSpPr>
          <p:cNvPr id="10006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Boundaries that must stay visible</a:t>
            </a:r>
          </a:p>
        </p:txBody>
      </p:sp>
      <p:sp>
        <p:nvSpPr>
          <p:cNvPr id="10007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Efficiency applies only to the stated reference-stage operating point. External switches, inductors, cooling and layout remain customer design responsibilities.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95 percent reference-stage efficiency: 48 V input, 12 V output, half rated reference-stage load, 25 degrees Celsius ambient; excludes host and enclosure losses.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No regulatory certification, customer benchmark or customer endorsement is asserted.</a:t>
            </a:r>
          </a:p>
        </p:txBody>
      </p:sp>
      <p:sp>
        <p:nvSpPr>
          <p:cNvPr id="10007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scope</a:t>
            </a:r>
          </a:p>
        </p:txBody>
      </p:sp>
      <p:sp>
        <p:nvSpPr>
          <p:cNvPr id="10007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Board scope</a:t>
            </a:r>
          </a:p>
        </p:txBody>
      </p:sp>
      <p:sp>
        <p:nvSpPr>
          <p:cNvPr id="10007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System scope</a:t>
            </a:r>
          </a:p>
        </p:txBody>
      </p:sp>
      <p:sp>
        <p:nvSpPr>
          <p:cNvPr id="10007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PRODUCT BRIEFING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2022-08-22</a:t>
            </a:r>
          </a:p>
        </p:txBody>
      </p:sp>
      <p:sp>
        <p:nvSpPr>
          <p:cNvPr id="10007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Plan adoption around release evidence</a:t>
            </a:r>
          </a:p>
        </p:txBody>
      </p:sp>
      <p:sp>
        <p:nvSpPr>
          <p:cNvPr id="10008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Pricing and contractual lead times are supplied through customer-specific quotations.</a:t>
            </a:r>
          </a:p>
        </p:txBody>
      </p:sp>
      <p:sp>
        <p:nvSpPr>
          <p:cNvPr id="10008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</a:t>
            </a:r>
          </a:p>
        </p:txBody>
      </p:sp>
      <p:sp>
        <p:nvSpPr>
          <p:cNvPr id="10008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configuration</a:t>
            </a:r>
          </a:p>
        </p:txBody>
      </p:sp>
      <p:sp>
        <p:nvSpPr>
          <p:cNvPr id="10008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Quote and allocate</a:t>
            </a:r>
          </a:p>
        </p:txBody>
      </p:sp>
      <p:sp>
        <p:nvSpPr>
          <p:cNvPr id="10008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PRODUCT BRIEFING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8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2022-08-22</a:t>
            </a:r>
          </a:p>
        </p:txBody>
      </p:sp>
      <p:sp>
        <p:nvSpPr>
          <p:cNvPr id="10008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Begin with a version-matched evaluation</a:t>
            </a:r>
          </a:p>
        </p:txBody>
      </p:sp>
      <p:sp>
        <p:nvSpPr>
          <p:cNvPr id="10009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 the version-matched evaluation kit and interface pack from applications@sunnysemi.example.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</p:txBody>
      </p:sp>
      <p:sp>
        <p:nvSpPr>
          <p:cNvPr id="10009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 kit</a:t>
            </a:r>
          </a:p>
        </p:txBody>
      </p:sp>
      <p:sp>
        <p:nvSpPr>
          <p:cNvPr id="10009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Interface pack</a:t>
            </a:r>
          </a:p>
        </p:txBody>
      </p:sp>
      <p:sp>
        <p:nvSpPr>
          <p:cNvPr id="10009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 plan</a:t>
            </a:r>
          </a:p>
        </p:txBody>
      </p:sp>
      <p:sp>
        <p:nvSpPr>
          <p:cNvPr id="10009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PRODUCT BRIEFING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2026-10-15T17:19:36.0000000Z</dcterms:created>
  <lastModifiedBy>OfficeCLI</lastModifiedBy>
  <dcterms:modified xsi:type="dcterms:W3CDTF">2026-10-15T17:19:38.6601922Z</dcterms:modified>
  <dc:title>SunnySemi LLC - GulfSwitch 3.0 - Power Stage Adoption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2026-10-15T17:19:39Z</vt:lpwstr>
  </op:property>
</op:Properties>
</file>