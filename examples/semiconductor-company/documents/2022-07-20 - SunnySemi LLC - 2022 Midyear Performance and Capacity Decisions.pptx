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7c568eae7784c59" /><Relationship Type="http://schemas.openxmlformats.org/package/2006/relationships/metadata/core-properties" Target="/docProps/core.xml" Id="R36488b65db954b3f" /><Relationship Type="http://schemas.openxmlformats.org/officeDocument/2006/relationships/extended-properties" Target="/docProps/app.xml" Id="Ree025120ae7b437a" /><Relationship Type="http://schemas.openxmlformats.org/officeDocument/2006/relationships/custom-properties" Target="/docProps/custom.xml" Id="R375c8e72a3494e2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d886b3b6ec58499e"/>
  </p:notesMasterIdLst>
  <p:sldIdLst>
    <p:sldId id="256" r:id="R54052e40868649ea"/>
    <p:sldId id="257" r:id="Rc8022b598e8144d1"/>
    <p:sldId id="258" r:id="R0456074d3e124713"/>
    <p:sldId id="259" r:id="R01c9262f32b5485c"/>
    <p:sldId id="260" r:id="Rb70c9209dfcc455c"/>
    <p:sldId id="261" r:id="Rb878b8abdb4a44f3"/>
    <p:sldId id="262" r:id="R332cb5f636754fc0"/>
    <p:sldId id="263" r:id="R8d978953e9a04690"/>
    <p:sldId id="264" r:id="Rfa2f9a1fe9e04450"/>
    <p:sldId id="265" r:id="R347ff7c1f29a49c7"/>
  </p:sldIdLst>
  <p:sldSz cx="1219212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54052e40868649ea" /><Relationship Type="http://schemas.openxmlformats.org/officeDocument/2006/relationships/notesMaster" Target="/ppt/notesMasters/notesMaster1.xml" Id="Rd886b3b6ec58499e" /><Relationship Type="http://schemas.openxmlformats.org/officeDocument/2006/relationships/slide" Target="/ppt/slides/slide2.xml" Id="Rc8022b598e8144d1" /><Relationship Type="http://schemas.openxmlformats.org/officeDocument/2006/relationships/slide" Target="/ppt/slides/slide3.xml" Id="R0456074d3e124713" /><Relationship Type="http://schemas.openxmlformats.org/officeDocument/2006/relationships/slide" Target="/ppt/slides/slide4.xml" Id="R01c9262f32b5485c" /><Relationship Type="http://schemas.openxmlformats.org/officeDocument/2006/relationships/slide" Target="/ppt/slides/slide5.xml" Id="Rb70c9209dfcc455c" /><Relationship Type="http://schemas.openxmlformats.org/officeDocument/2006/relationships/slide" Target="/ppt/slides/slide6.xml" Id="Rb878b8abdb4a44f3" /><Relationship Type="http://schemas.openxmlformats.org/officeDocument/2006/relationships/slide" Target="/ppt/slides/slide7.xml" Id="R332cb5f636754fc0" /><Relationship Type="http://schemas.openxmlformats.org/officeDocument/2006/relationships/slide" Target="/ppt/slides/slide8.xml" Id="R8d978953e9a04690" /><Relationship Type="http://schemas.openxmlformats.org/officeDocument/2006/relationships/slide" Target="/ppt/slides/slide9.xml" Id="Rfa2f9a1fe9e04450" /><Relationship Type="http://schemas.openxmlformats.org/officeDocument/2006/relationships/slide" Target="/ppt/slides/slide10.xml" Id="R347ff7c1f29a49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4cde61291424b19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6f3de80824d4379" /><Relationship Type="http://schemas.openxmlformats.org/officeDocument/2006/relationships/slide" Target="/ppt/slides/slide1.xml" Id="R4fbce4667c364b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16eb93772ef4016" /><Relationship Type="http://schemas.openxmlformats.org/officeDocument/2006/relationships/slide" Target="/ppt/slides/slide2.xml" Id="R57405f2ed46b43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ccdd5d222204898" /><Relationship Type="http://schemas.openxmlformats.org/officeDocument/2006/relationships/slide" Target="/ppt/slides/slide3.xml" Id="R57588fe32c2d40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1ba682e06ae4ef0" /><Relationship Type="http://schemas.openxmlformats.org/officeDocument/2006/relationships/slide" Target="/ppt/slides/slide4.xml" Id="Ra94e49eccfce44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1104b9978814644" /><Relationship Type="http://schemas.openxmlformats.org/officeDocument/2006/relationships/slide" Target="/ppt/slides/slide5.xml" Id="Rce2e4d7f0d3849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501e5afb6194f9b" /><Relationship Type="http://schemas.openxmlformats.org/officeDocument/2006/relationships/slide" Target="/ppt/slides/slide6.xml" Id="R990803ab430c44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7bde4ffc7f24712" /><Relationship Type="http://schemas.openxmlformats.org/officeDocument/2006/relationships/slide" Target="/ppt/slides/slide7.xml" Id="R53078f5beb0847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2bd2cd9452d4ae2" /><Relationship Type="http://schemas.openxmlformats.org/officeDocument/2006/relationships/slide" Target="/ppt/slides/slide8.xml" Id="Rd162192e00e949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844286da1cd4779" /><Relationship Type="http://schemas.openxmlformats.org/officeDocument/2006/relationships/slide" Target="/ppt/slides/slide9.xml" Id="Rc996fbc507f04e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385d82a73b14270" /><Relationship Type="http://schemas.openxmlformats.org/officeDocument/2006/relationships/slide" Target="/ppt/slides/slide10.xml" Id="R103c2311492840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Package readiness</a:t>
            </a:r>
          </a:p>
          <a:p xmlns:a="http://schemas.openxmlformats.org/drawingml/2006/main">
            <a:r>
              <a:rPr lang="en-US"/>
              <a:t>Tampa, Florida</a:t>
            </a:r>
          </a:p>
          <a:p xmlns:a="http://schemas.openxmlformats.org/drawingml/2006/main">
            <a:r>
              <a:rPr lang="en-US"/>
              <a:t>Avery Rowan, CEO</a:t>
            </a:r>
          </a:p>
          <a:p xmlns:a="http://schemas.openxmlformats.org/drawingml/2006/main">
            <a:r>
              <a:rPr lang="en-US"/>
              <a:t>Midyear actuals and a gated capacity decision; confidential board material.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Q1 revenue: $900.0 million</a:t>
            </a:r>
          </a:p>
          <a:p xmlns:a="http://schemas.openxmlformats.org/drawingml/2006/main">
            <a:r>
              <a:rPr lang="en-US"/>
              <a:t>Q2 revenue: $1035.0 million</a:t>
            </a:r>
          </a:p>
          <a:p xmlns:a="http://schemas.openxmlformats.org/drawingml/2006/main">
            <a:r>
              <a:rPr lang="en-US"/>
              <a:t>Q2 operating income: $331.2 million</a:t>
            </a:r>
          </a:p>
          <a:p xmlns:a="http://schemas.openxmlformats.org/drawingml/2006/main">
            <a:r>
              <a:rPr lang="en-US"/>
              <a:t>Revenue and operating income are actuals, not bookings or cash flow.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Revenue $1035.0 million</a:t>
            </a:r>
          </a:p>
          <a:p xmlns:a="http://schemas.openxmlformats.org/drawingml/2006/main">
            <a:r>
              <a:rPr lang="en-US"/>
              <a:t>Less COGS $434.7 million</a:t>
            </a:r>
          </a:p>
          <a:p xmlns:a="http://schemas.openxmlformats.org/drawingml/2006/main">
            <a:r>
              <a:rPr lang="en-US"/>
              <a:t>Less operating expense $269.1 million</a:t>
            </a:r>
          </a:p>
          <a:p xmlns:a="http://schemas.openxmlformats.org/drawingml/2006/main">
            <a:r>
              <a:rPr lang="en-US"/>
              <a:t>Operating income $331.2 million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recognized revenue: $662.4 million</a:t>
            </a:r>
          </a:p>
          <a:p xmlns:a="http://schemas.openxmlformats.org/drawingml/2006/main">
            <a:r>
              <a:rPr lang="en-US"/>
              <a:t>GulfSwitch recognized revenue: $372.6 million</a:t>
            </a:r>
          </a:p>
          <a:p xmlns:a="http://schemas.openxmlformats.org/drawingml/2006/main">
            <a:r>
              <a:rPr lang="en-US"/>
              <a:t>Own differentiated silicon architecture and application validation; use external manufacturing rather than build a wafer fab.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Wafer cost $282.6 million</a:t>
            </a:r>
          </a:p>
          <a:p xmlns:a="http://schemas.openxmlformats.org/drawingml/2006/main">
            <a:r>
              <a:rPr lang="en-US"/>
              <a:t>Package and test $108.7 million</a:t>
            </a:r>
          </a:p>
          <a:p xmlns:a="http://schemas.openxmlformats.org/drawingml/2006/main">
            <a:r>
              <a:rPr lang="en-US"/>
              <a:t>Logistics $43.5 million</a:t>
            </a:r>
          </a:p>
          <a:p xmlns:a="http://schemas.openxmlformats.org/drawingml/2006/main">
            <a:r>
              <a:rPr lang="en-US"/>
              <a:t>These components reconcile to reported COGS.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Engineering opex: $188.4 million</a:t>
            </a:r>
          </a:p>
          <a:p xmlns:a="http://schemas.openxmlformats.org/drawingml/2006/main">
            <a:r>
              <a:rPr lang="en-US"/>
              <a:t>Commercial and administrative opex: $80.7 million</a:t>
            </a:r>
          </a:p>
          <a:p xmlns:a="http://schemas.openxmlformats.org/drawingml/2006/main">
            <a:r>
              <a:rPr lang="en-US"/>
              <a:t>Q2 ending headcount: 1470</a:t>
            </a:r>
          </a:p>
          <a:p xmlns:a="http://schemas.openxmlformats.org/drawingml/2006/main">
            <a:r>
              <a:rPr lang="en-US"/>
              <a:t>Quinn Mercer owns customer qualification; Riley Arden owns release evidence; the effective CFO owns capacity-commitment review.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3.0: 48 INT8 TOPS</a:t>
            </a:r>
          </a:p>
          <a:p xmlns:a="http://schemas.openxmlformats.org/drawingml/2006/main">
            <a:r>
              <a:rPr lang="en-US"/>
              <a:t>GulfSwitch 3.0: 60 V maximum rated input</a:t>
            </a:r>
          </a:p>
          <a:p xmlns:a="http://schemas.openxmlformats.org/drawingml/2006/main">
            <a:r>
              <a:rPr lang="en-US"/>
              <a:t>Target release date: 2022-08-15</a:t>
            </a:r>
          </a:p>
          <a:p xmlns:a="http://schemas.openxmlformats.org/drawingml/2006/main">
            <a:r>
              <a:rPr lang="en-US"/>
              <a:t>Planned at this briefing date; completion is not asserted.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Risk: package-test capacity becoming the binding constraint</a:t>
            </a:r>
          </a:p>
          <a:p xmlns:a="http://schemas.openxmlformats.org/drawingml/2006/main">
            <a:r>
              <a:rPr lang="en-US"/>
              <a:t>Mitigation: reserve package-test slots before accepting accelerated ramps</a:t>
            </a:r>
          </a:p>
          <a:p xmlns:a="http://schemas.openxmlformats.org/drawingml/2006/main">
            <a:r>
              <a:rPr lang="en-US"/>
              <a:t>release a capacity increment only after package and test readiness are demonstrated together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Preferred: Stage commitments against qualification evidence.</a:t>
            </a:r>
          </a:p>
          <a:p xmlns:a="http://schemas.openxmlformats.org/drawingml/2006/main">
            <a:r>
              <a:rPr lang="en-US"/>
              <a:t>Alternative: Commit the entire proposed capacity increment immediately.</a:t>
            </a:r>
          </a:p>
          <a:p xmlns:a="http://schemas.openxmlformats.org/drawingml/2006/main">
            <a:r>
              <a:rPr lang="en-US"/>
              <a:t>Staging limits irreversible commitments but can defer some shipment opportunities.</a:t>
            </a:r>
          </a:p>
          <a:p xmlns:a="http://schemas.openxmlformats.org/drawingml/2006/main">
            <a:r>
              <a:rPr lang="en-US"/>
              <a:t>CoralKey Packaging: closed, $85.0 million.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Approve milestone-based capacity releases; retain existing commercial approval limits and require Finance and Engineering sign-off before each increment.</a:t>
            </a:r>
          </a:p>
          <a:p xmlns:a="http://schemas.openxmlformats.org/drawingml/2006/main">
            <a:r>
              <a:rPr lang="en-US"/>
              <a:t>Requested; no board approval is recorded in this briefing.</a:t>
            </a:r>
          </a:p>
          <a:p xmlns:a="http://schemas.openxmlformats.org/drawingml/2006/main">
            <a:r>
              <a:rPr lang="en-US"/>
              <a:t>No cash balance, debt balance, free-cash-flow measure or forecast is included.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0d900636847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4d48ada05c40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bac796e36048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4cd23148f34d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fe69cf323c4c5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2986a68cb1f348b3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540a9b91e4aa3" /><Relationship Type="http://schemas.openxmlformats.org/officeDocument/2006/relationships/notesSlide" Target="/ppt/notesSlides/notesSlide1.xml" Id="R402580654cb041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0bf9569764765" /><Relationship Type="http://schemas.openxmlformats.org/officeDocument/2006/relationships/notesSlide" Target="/ppt/notesSlides/notesSlide2.xml" Id="R8ad3fa81af264b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df4ecd1f44ccb" /><Relationship Type="http://schemas.openxmlformats.org/officeDocument/2006/relationships/notesSlide" Target="/ppt/notesSlides/notesSlide3.xml" Id="R9f627839c17143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2245d9ab541f6" /><Relationship Type="http://schemas.openxmlformats.org/officeDocument/2006/relationships/notesSlide" Target="/ppt/notesSlides/notesSlide4.xml" Id="R29d63f664d2d49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56ee516614dc0" /><Relationship Type="http://schemas.openxmlformats.org/officeDocument/2006/relationships/notesSlide" Target="/ppt/notesSlides/notesSlide5.xml" Id="Rab15e3cda8f549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46d1041ef467e" /><Relationship Type="http://schemas.openxmlformats.org/officeDocument/2006/relationships/notesSlide" Target="/ppt/notesSlides/notesSlide6.xml" Id="R2a63ff83f5c446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9ae49283b4397" /><Relationship Type="http://schemas.openxmlformats.org/officeDocument/2006/relationships/notesSlide" Target="/ppt/notesSlides/notesSlide7.xml" Id="R6495821993a147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4251d5f7f4cd8" /><Relationship Type="http://schemas.openxmlformats.org/officeDocument/2006/relationships/notesSlide" Target="/ppt/notesSlides/notesSlide8.xml" Id="R588a8a6c557144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4d4229ec74607" /><Relationship Type="http://schemas.openxmlformats.org/officeDocument/2006/relationships/notesSlide" Target="/ppt/notesSlides/notesSlide9.xml" Id="R551e15a83e1f43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2c144ca5b42b2" /><Relationship Type="http://schemas.openxmlformats.org/officeDocument/2006/relationships/notesSlide" Target="/ppt/notesSlides/notesSlide10.xml" Id="Re053af5112a840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2022-07-20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SunnySemi LLC - 2022 Midyear Performance and Capacity Decisions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Package readiness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Tampa, Florida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Avery Rowan, CEO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Midyear actuals and a gated capacity decision; confidential board material.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Actual performance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Release readiness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Capacity authority</a:t>
            </a:r>
          </a:p>
        </p:txBody>
      </p:sp>
      <p:sp>
        <p:nvSpPr>
          <p:cNvPr id="10000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01  |  BOARD CONFIDENTIAL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2022-07-20</a:t>
            </a:r>
          </a:p>
        </p:txBody>
      </p:sp>
      <p:sp>
        <p:nvSpPr>
          <p:cNvPr id="10001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Recognized revenue and operating income</a:t>
            </a:r>
          </a:p>
        </p:txBody>
      </p:sp>
      <p:sp>
        <p:nvSpPr>
          <p:cNvPr id="10001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Q1 revenue: $900.0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revenue: $1035.0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operating income: $331.2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Revenue and operating income are actuals, not bookings or cash flow.</a:t>
            </a:r>
          </a:p>
        </p:txBody>
      </p:sp>
      <p:sp>
        <p:nvSpPr>
          <p:cNvPr id="100013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Q1 revenue</a:t>
            </a:r>
          </a:p>
        </p:txBody>
      </p:sp>
      <p:sp>
        <p:nvSpPr>
          <p:cNvPr id="100014" name="TextBox 5"/>
          <p:cNvSpPr/>
          <p:nvPr/>
        </p:nvSpPr>
        <p:spPr>
          <a:xfrm xmlns:a="http://schemas.openxmlformats.org/drawingml/2006/main">
            <a:off x="7236000" y="2628000"/>
            <a:ext cx="3725217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15" name="TextBox 6"/>
          <p:cNvSpPr/>
          <p:nvPr/>
        </p:nvSpPr>
        <p:spPr>
          <a:xfrm xmlns:a="http://schemas.openxmlformats.org/drawingml/2006/main">
            <a:off x="7236000" y="4014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Q2 revenue</a:t>
            </a:r>
          </a:p>
        </p:txBody>
      </p:sp>
      <p:sp>
        <p:nvSpPr>
          <p:cNvPr id="100016" name="TextBox 7"/>
          <p:cNvSpPr/>
          <p:nvPr/>
        </p:nvSpPr>
        <p:spPr>
          <a:xfrm xmlns:a="http://schemas.openxmlformats.org/drawingml/2006/main">
            <a:off x="7236000" y="4374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17" name="TextBox 8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18" name="TextBox 9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02  |  BOARD CONFIDENTIAL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9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2022-07-20</a:t>
            </a:r>
          </a:p>
        </p:txBody>
      </p:sp>
      <p:sp>
        <p:nvSpPr>
          <p:cNvPr id="100020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Q2 operating-income bridge</a:t>
            </a:r>
          </a:p>
        </p:txBody>
      </p:sp>
      <p:sp>
        <p:nvSpPr>
          <p:cNvPr id="100021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Revenue $1035.0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Less COGS $434.7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Less operating expense $269.1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Operating income $331.2 million</a:t>
            </a:r>
          </a:p>
        </p:txBody>
      </p:sp>
      <p:sp>
        <p:nvSpPr>
          <p:cNvPr id="100022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Revenue</a:t>
            </a:r>
          </a:p>
        </p:txBody>
      </p:sp>
      <p:sp>
        <p:nvSpPr>
          <p:cNvPr id="100023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4" name="TextBox 6"/>
          <p:cNvSpPr/>
          <p:nvPr/>
        </p:nvSpPr>
        <p:spPr>
          <a:xfrm xmlns:a="http://schemas.openxmlformats.org/drawingml/2006/main">
            <a:off x="7236000" y="3141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COGS</a:t>
            </a:r>
          </a:p>
        </p:txBody>
      </p:sp>
      <p:sp>
        <p:nvSpPr>
          <p:cNvPr id="100025" name="TextBox 7"/>
          <p:cNvSpPr/>
          <p:nvPr/>
        </p:nvSpPr>
        <p:spPr>
          <a:xfrm xmlns:a="http://schemas.openxmlformats.org/drawingml/2006/main">
            <a:off x="7236000" y="3501000"/>
            <a:ext cx="179928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6" name="TextBox 8"/>
          <p:cNvSpPr/>
          <p:nvPr/>
        </p:nvSpPr>
        <p:spPr>
          <a:xfrm xmlns:a="http://schemas.openxmlformats.org/drawingml/2006/main">
            <a:off x="7236000" y="4014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Opex</a:t>
            </a:r>
          </a:p>
        </p:txBody>
      </p:sp>
      <p:sp>
        <p:nvSpPr>
          <p:cNvPr id="100027" name="TextBox 9"/>
          <p:cNvSpPr/>
          <p:nvPr/>
        </p:nvSpPr>
        <p:spPr>
          <a:xfrm xmlns:a="http://schemas.openxmlformats.org/drawingml/2006/main">
            <a:off x="7236000" y="4374000"/>
            <a:ext cx="111384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8" name="TextBox 10"/>
          <p:cNvSpPr/>
          <p:nvPr/>
        </p:nvSpPr>
        <p:spPr>
          <a:xfrm xmlns:a="http://schemas.openxmlformats.org/drawingml/2006/main">
            <a:off x="7236000" y="4887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Operating income</a:t>
            </a:r>
          </a:p>
        </p:txBody>
      </p:sp>
      <p:sp>
        <p:nvSpPr>
          <p:cNvPr id="100029" name="TextBox 11"/>
          <p:cNvSpPr/>
          <p:nvPr/>
        </p:nvSpPr>
        <p:spPr>
          <a:xfrm xmlns:a="http://schemas.openxmlformats.org/drawingml/2006/main">
            <a:off x="7236000" y="5247000"/>
            <a:ext cx="137088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0" name="TextBox 12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31" name="TextBox 13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03  |  BOARD CONFIDENTIAL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2022-07-20</a:t>
            </a:r>
          </a:p>
        </p:txBody>
      </p:sp>
      <p:sp>
        <p:nvSpPr>
          <p:cNvPr id="10003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Two silicon franchises fund the strategy</a:t>
            </a:r>
          </a:p>
        </p:txBody>
      </p:sp>
      <p:sp>
        <p:nvSpPr>
          <p:cNvPr id="10003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SunCore recognized revenue: $662.4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GulfSwitch recognized revenue: $372.6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Own differentiated silicon architecture and application validation; use external manufacturing rather than build a wafer fab.</a:t>
            </a:r>
          </a:p>
        </p:txBody>
      </p:sp>
      <p:sp>
        <p:nvSpPr>
          <p:cNvPr id="100035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SunCore</a:t>
            </a:r>
          </a:p>
        </p:txBody>
      </p:sp>
      <p:sp>
        <p:nvSpPr>
          <p:cNvPr id="100036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7" name="TextBox 6"/>
          <p:cNvSpPr/>
          <p:nvPr/>
        </p:nvSpPr>
        <p:spPr>
          <a:xfrm xmlns:a="http://schemas.openxmlformats.org/drawingml/2006/main">
            <a:off x="7236000" y="4014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GulfSwitch</a:t>
            </a:r>
          </a:p>
        </p:txBody>
      </p:sp>
      <p:sp>
        <p:nvSpPr>
          <p:cNvPr id="100038" name="TextBox 7"/>
          <p:cNvSpPr/>
          <p:nvPr/>
        </p:nvSpPr>
        <p:spPr>
          <a:xfrm xmlns:a="http://schemas.openxmlformats.org/drawingml/2006/main">
            <a:off x="7236000" y="4374000"/>
            <a:ext cx="240975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9" name="TextBox 8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40" name="TextBox 9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04  |  BOARD CONFIDENTIAL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41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2022-07-20</a:t>
            </a:r>
          </a:p>
        </p:txBody>
      </p:sp>
      <p:sp>
        <p:nvSpPr>
          <p:cNvPr id="100042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Manufacturing spend has distinct drivers</a:t>
            </a:r>
          </a:p>
        </p:txBody>
      </p:sp>
      <p:sp>
        <p:nvSpPr>
          <p:cNvPr id="100043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Wafer cost $282.6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Package and test $108.7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Logistics $43.5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These components reconcile to reported COGS.</a:t>
            </a:r>
          </a:p>
        </p:txBody>
      </p:sp>
      <p:sp>
        <p:nvSpPr>
          <p:cNvPr id="100044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Wafer</a:t>
            </a:r>
          </a:p>
        </p:txBody>
      </p:sp>
      <p:sp>
        <p:nvSpPr>
          <p:cNvPr id="100045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46" name="TextBox 6"/>
          <p:cNvSpPr/>
          <p:nvPr/>
        </p:nvSpPr>
        <p:spPr>
          <a:xfrm xmlns:a="http://schemas.openxmlformats.org/drawingml/2006/main">
            <a:off x="7236000" y="3432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Package/test</a:t>
            </a:r>
          </a:p>
        </p:txBody>
      </p:sp>
      <p:sp>
        <p:nvSpPr>
          <p:cNvPr id="100047" name="TextBox 7"/>
          <p:cNvSpPr/>
          <p:nvPr/>
        </p:nvSpPr>
        <p:spPr>
          <a:xfrm xmlns:a="http://schemas.openxmlformats.org/drawingml/2006/main">
            <a:off x="7236000" y="3792000"/>
            <a:ext cx="1647692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48" name="TextBox 8"/>
          <p:cNvSpPr/>
          <p:nvPr/>
        </p:nvSpPr>
        <p:spPr>
          <a:xfrm xmlns:a="http://schemas.openxmlformats.org/drawingml/2006/main">
            <a:off x="7236000" y="4596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Logistics</a:t>
            </a:r>
          </a:p>
        </p:txBody>
      </p:sp>
      <p:sp>
        <p:nvSpPr>
          <p:cNvPr id="100049" name="TextBox 9"/>
          <p:cNvSpPr/>
          <p:nvPr/>
        </p:nvSpPr>
        <p:spPr>
          <a:xfrm xmlns:a="http://schemas.openxmlformats.org/drawingml/2006/main">
            <a:off x="7236000" y="4956000"/>
            <a:ext cx="659077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50" name="TextBox 10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51" name="TextBox 11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05  |  BOARD CONFIDENTIAL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5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2022-07-20</a:t>
            </a:r>
          </a:p>
        </p:txBody>
      </p:sp>
      <p:sp>
        <p:nvSpPr>
          <p:cNvPr id="10005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Engineering investment and release accountability</a:t>
            </a:r>
          </a:p>
        </p:txBody>
      </p:sp>
      <p:sp>
        <p:nvSpPr>
          <p:cNvPr id="10005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Engineering opex: $188.4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Commercial and administrative opex: $80.7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ending headcount: 1470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Quinn Mercer owns customer qualification; Riley Arden owns release evidence; the effective CFO owns capacity-commitment review.</a:t>
            </a:r>
          </a:p>
        </p:txBody>
      </p:sp>
      <p:sp>
        <p:nvSpPr>
          <p:cNvPr id="10005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5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Engineering evidence</a:t>
            </a:r>
          </a:p>
        </p:txBody>
      </p:sp>
      <p:sp>
        <p:nvSpPr>
          <p:cNvPr id="10005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5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qualification</a:t>
            </a:r>
          </a:p>
        </p:txBody>
      </p:sp>
      <p:sp>
        <p:nvSpPr>
          <p:cNvPr id="10005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6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Finance sign-off</a:t>
            </a:r>
          </a:p>
        </p:txBody>
      </p:sp>
      <p:sp>
        <p:nvSpPr>
          <p:cNvPr id="100061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06  |  BOARD CONFIDENTIAL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6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2022-07-20</a:t>
            </a:r>
          </a:p>
        </p:txBody>
      </p:sp>
      <p:sp>
        <p:nvSpPr>
          <p:cNvPr id="10006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August release gate is still ahead</a:t>
            </a:r>
          </a:p>
        </p:txBody>
      </p:sp>
      <p:sp>
        <p:nvSpPr>
          <p:cNvPr id="10006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SunCore 3.0: 48 INT8 TOPS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GulfSwitch 3.0: 60 V maximum rated input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Target release date: 2022-08-15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Planned at this briefing date; completion is not asserted.</a:t>
            </a:r>
          </a:p>
        </p:txBody>
      </p:sp>
      <p:sp>
        <p:nvSpPr>
          <p:cNvPr id="10006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6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Specification</a:t>
            </a:r>
          </a:p>
        </p:txBody>
      </p:sp>
      <p:sp>
        <p:nvSpPr>
          <p:cNvPr id="10006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6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Verification</a:t>
            </a:r>
          </a:p>
        </p:txBody>
      </p:sp>
      <p:sp>
        <p:nvSpPr>
          <p:cNvPr id="10006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7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Production release</a:t>
            </a:r>
          </a:p>
        </p:txBody>
      </p:sp>
      <p:sp>
        <p:nvSpPr>
          <p:cNvPr id="100071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07  |  BOARD CONFIDENTIAL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7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2022-07-20</a:t>
            </a:r>
          </a:p>
        </p:txBody>
      </p:sp>
      <p:sp>
        <p:nvSpPr>
          <p:cNvPr id="10007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Concentrate controls on the binding risk</a:t>
            </a:r>
          </a:p>
        </p:txBody>
      </p:sp>
      <p:sp>
        <p:nvSpPr>
          <p:cNvPr id="10007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Risk: package-test capacity becoming the binding constraint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Mitigation: reserve package-test slots before accepting accelerated ramps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release a capacity increment only after package and test readiness are demonstrated together</a:t>
            </a:r>
          </a:p>
        </p:txBody>
      </p:sp>
      <p:sp>
        <p:nvSpPr>
          <p:cNvPr id="10007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7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Identify dependency</a:t>
            </a:r>
          </a:p>
        </p:txBody>
      </p:sp>
      <p:sp>
        <p:nvSpPr>
          <p:cNvPr id="10007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7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Retain evidence</a:t>
            </a:r>
          </a:p>
        </p:txBody>
      </p:sp>
      <p:sp>
        <p:nvSpPr>
          <p:cNvPr id="10007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8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Gate commitment</a:t>
            </a:r>
          </a:p>
        </p:txBody>
      </p:sp>
      <p:sp>
        <p:nvSpPr>
          <p:cNvPr id="100081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08  |  BOARD CONFIDENTIAL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8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2022-07-20</a:t>
            </a:r>
          </a:p>
        </p:txBody>
      </p:sp>
      <p:sp>
        <p:nvSpPr>
          <p:cNvPr id="10008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Capacity options and transaction context</a:t>
            </a:r>
          </a:p>
        </p:txBody>
      </p:sp>
      <p:sp>
        <p:nvSpPr>
          <p:cNvPr id="10008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Preferred: Stage commitments against qualification evidence.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Alternative: Commit the entire proposed capacity increment immediately.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Staging limits irreversible commitments but can defer some shipment opportunities.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CoralKey Packaging: closed, $85.0 million.</a:t>
            </a:r>
          </a:p>
        </p:txBody>
      </p:sp>
      <p:sp>
        <p:nvSpPr>
          <p:cNvPr id="10008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8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Stage commitments</a:t>
            </a:r>
          </a:p>
        </p:txBody>
      </p:sp>
      <p:sp>
        <p:nvSpPr>
          <p:cNvPr id="100087" name="TextBox 6"/>
          <p:cNvSpPr/>
          <p:nvPr/>
        </p:nvSpPr>
        <p:spPr>
          <a:xfrm xmlns:a="http://schemas.openxmlformats.org/drawingml/2006/main">
            <a:off x="7236000" y="4086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88" name="TextBox 7"/>
          <p:cNvSpPr/>
          <p:nvPr/>
        </p:nvSpPr>
        <p:spPr>
          <a:xfrm xmlns:a="http://schemas.openxmlformats.org/drawingml/2006/main">
            <a:off x="7920000" y="4086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Commit immediately</a:t>
            </a:r>
          </a:p>
        </p:txBody>
      </p:sp>
      <p:sp>
        <p:nvSpPr>
          <p:cNvPr id="100089" name="TextBox 8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09  |  BOARD CONFIDENTIAL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9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2022-07-20</a:t>
            </a:r>
          </a:p>
        </p:txBody>
      </p:sp>
      <p:sp>
        <p:nvSpPr>
          <p:cNvPr id="10009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Decision requested and authority retained</a:t>
            </a:r>
          </a:p>
        </p:txBody>
      </p:sp>
      <p:sp>
        <p:nvSpPr>
          <p:cNvPr id="10009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Approve milestone-based capacity releases; retain existing commercial approval limits and require Finance and Engineering sign-off before each increment.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Requested; no board approval is recorded in this briefing.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No cash balance, debt balance, free-cash-flow measure or forecast is included.</a:t>
            </a:r>
          </a:p>
        </p:txBody>
      </p:sp>
      <p:sp>
        <p:nvSpPr>
          <p:cNvPr id="10009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9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Board direction</a:t>
            </a:r>
          </a:p>
        </p:txBody>
      </p:sp>
      <p:sp>
        <p:nvSpPr>
          <p:cNvPr id="10009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9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Engineering evidence</a:t>
            </a:r>
          </a:p>
        </p:txBody>
      </p:sp>
      <p:sp>
        <p:nvSpPr>
          <p:cNvPr id="10009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9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Finance release</a:t>
            </a:r>
          </a:p>
        </p:txBody>
      </p:sp>
      <p:sp>
        <p:nvSpPr>
          <p:cNvPr id="10009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10  |  BOARD CONFIDENTIAL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SunnySemi LLC</dc:creator>
  <dcterms:created xsi:type="dcterms:W3CDTF">2026-10-15T17:19:11.0000000Z</dcterms:created>
  <lastModifiedBy>OfficeCLI</lastModifiedBy>
  <dcterms:modified xsi:type="dcterms:W3CDTF">2026-10-15T17:19:13.4336802Z</dcterms:modified>
  <dc:title>SunnySemi LLC - 2022 Midyear Performance and Capacity Decisions</dc:title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2026-10-15T17:19:14Z</vt:lpwstr>
  </op:property>
</op:Properties>
</file>