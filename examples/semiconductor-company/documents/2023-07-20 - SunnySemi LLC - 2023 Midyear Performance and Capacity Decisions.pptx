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b24026b669b448a" /><Relationship Type="http://schemas.openxmlformats.org/package/2006/relationships/metadata/core-properties" Target="/docProps/core.xml" Id="R6098ca46bab74f69" /><Relationship Type="http://schemas.openxmlformats.org/officeDocument/2006/relationships/extended-properties" Target="/docProps/app.xml" Id="Rbb00d8669f7448ce" /><Relationship Type="http://schemas.openxmlformats.org/officeDocument/2006/relationships/custom-properties" Target="/docProps/custom.xml" Id="R904fab61a859406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544af93e3d5940cf"/>
  </p:notesMasterIdLst>
  <p:sldIdLst>
    <p:sldId id="256" r:id="R2dc7a8e6a6bd4681"/>
    <p:sldId id="257" r:id="Rd55d110b2ca04cad"/>
    <p:sldId id="258" r:id="Rc03a1e4fd74c4e9a"/>
    <p:sldId id="259" r:id="Rc43ae4214733424c"/>
    <p:sldId id="260" r:id="R8611679c30404c28"/>
    <p:sldId id="261" r:id="R1c7fed1962cb41fe"/>
    <p:sldId id="262" r:id="R6168a2de538746da"/>
    <p:sldId id="263" r:id="R431df59ec2a54761"/>
    <p:sldId id="264" r:id="R312f586292744140"/>
    <p:sldId id="265" r:id="R47160bfce41b4124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dc7a8e6a6bd4681" /><Relationship Type="http://schemas.openxmlformats.org/officeDocument/2006/relationships/notesMaster" Target="/ppt/notesMasters/notesMaster1.xml" Id="R544af93e3d5940cf" /><Relationship Type="http://schemas.openxmlformats.org/officeDocument/2006/relationships/slide" Target="/ppt/slides/slide2.xml" Id="Rd55d110b2ca04cad" /><Relationship Type="http://schemas.openxmlformats.org/officeDocument/2006/relationships/slide" Target="/ppt/slides/slide3.xml" Id="Rc03a1e4fd74c4e9a" /><Relationship Type="http://schemas.openxmlformats.org/officeDocument/2006/relationships/slide" Target="/ppt/slides/slide4.xml" Id="Rc43ae4214733424c" /><Relationship Type="http://schemas.openxmlformats.org/officeDocument/2006/relationships/slide" Target="/ppt/slides/slide5.xml" Id="R8611679c30404c28" /><Relationship Type="http://schemas.openxmlformats.org/officeDocument/2006/relationships/slide" Target="/ppt/slides/slide6.xml" Id="R1c7fed1962cb41fe" /><Relationship Type="http://schemas.openxmlformats.org/officeDocument/2006/relationships/slide" Target="/ppt/slides/slide7.xml" Id="R6168a2de538746da" /><Relationship Type="http://schemas.openxmlformats.org/officeDocument/2006/relationships/slide" Target="/ppt/slides/slide8.xml" Id="R431df59ec2a54761" /><Relationship Type="http://schemas.openxmlformats.org/officeDocument/2006/relationships/slide" Target="/ppt/slides/slide9.xml" Id="R312f586292744140" /><Relationship Type="http://schemas.openxmlformats.org/officeDocument/2006/relationships/slide" Target="/ppt/slides/slide10.xml" Id="R47160bfce41b41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345d78779a74aa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57d12a49b04f45" /><Relationship Type="http://schemas.openxmlformats.org/officeDocument/2006/relationships/slide" Target="/ppt/slides/slide1.xml" Id="Rc5258b18520249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0ee97376e984533" /><Relationship Type="http://schemas.openxmlformats.org/officeDocument/2006/relationships/slide" Target="/ppt/slides/slide2.xml" Id="R82d7b09649ab4a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77c115bb8d3447a" /><Relationship Type="http://schemas.openxmlformats.org/officeDocument/2006/relationships/slide" Target="/ppt/slides/slide3.xml" Id="R53803659f5834f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7b62dc0c25f4ece" /><Relationship Type="http://schemas.openxmlformats.org/officeDocument/2006/relationships/slide" Target="/ppt/slides/slide4.xml" Id="R9bc33edb79864b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e4cef88479846f5" /><Relationship Type="http://schemas.openxmlformats.org/officeDocument/2006/relationships/slide" Target="/ppt/slides/slide5.xml" Id="R9063f2770e2149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ebf4295169b4c17" /><Relationship Type="http://schemas.openxmlformats.org/officeDocument/2006/relationships/slide" Target="/ppt/slides/slide6.xml" Id="R9f410fc81e2c4c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809ef86fef343e7" /><Relationship Type="http://schemas.openxmlformats.org/officeDocument/2006/relationships/slide" Target="/ppt/slides/slide7.xml" Id="R126d6a4ba2564b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006a07e6cc245a5" /><Relationship Type="http://schemas.openxmlformats.org/officeDocument/2006/relationships/slide" Target="/ppt/slides/slide8.xml" Id="Racae981c117446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a9c96992d28479a" /><Relationship Type="http://schemas.openxmlformats.org/officeDocument/2006/relationships/slide" Target="/ppt/slides/slide9.xml" Id="R7699dfd3c1e84d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c7460cddf34e21" /><Relationship Type="http://schemas.openxmlformats.org/officeDocument/2006/relationships/slide" Target="/ppt/slides/slide10.xml" Id="R5c0d7cfd1f814c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Software maturity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Avery Rowan, CEO</a:t>
            </a:r>
          </a:p>
          <a:p xmlns:a="http://schemas.openxmlformats.org/drawingml/2006/main">
            <a:r>
              <a:rPr lang="en-US"/>
              <a:t>Midyear actuals and a gated capacity decision; confidential board material.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Q1 revenue: $1600.0 million</a:t>
            </a:r>
          </a:p>
          <a:p xmlns:a="http://schemas.openxmlformats.org/drawingml/2006/main">
            <a:r>
              <a:rPr lang="en-US"/>
              <a:t>Q2 revenue: $1840.0 million</a:t>
            </a:r>
          </a:p>
          <a:p xmlns:a="http://schemas.openxmlformats.org/drawingml/2006/main">
            <a:r>
              <a:rPr lang="en-US"/>
              <a:t>Q2 operating income: $644.0 million</a:t>
            </a:r>
          </a:p>
          <a:p xmlns:a="http://schemas.openxmlformats.org/drawingml/2006/main">
            <a:r>
              <a:rPr lang="en-US"/>
              <a:t>Revenue and operating income are actuals, not bookings or cash flow.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 $1840.0 million</a:t>
            </a:r>
          </a:p>
          <a:p xmlns:a="http://schemas.openxmlformats.org/drawingml/2006/main">
            <a:r>
              <a:rPr lang="en-US"/>
              <a:t>Less COGS $736.0 million</a:t>
            </a:r>
          </a:p>
          <a:p xmlns:a="http://schemas.openxmlformats.org/drawingml/2006/main">
            <a:r>
              <a:rPr lang="en-US"/>
              <a:t>Less operating expense $460.0 million</a:t>
            </a:r>
          </a:p>
          <a:p xmlns:a="http://schemas.openxmlformats.org/drawingml/2006/main">
            <a:r>
              <a:rPr lang="en-US"/>
              <a:t>Operating income $644.0 million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recognized revenue: $1214.4 million</a:t>
            </a:r>
          </a:p>
          <a:p xmlns:a="http://schemas.openxmlformats.org/drawingml/2006/main">
            <a:r>
              <a:rPr lang="en-US"/>
              <a:t>GulfSwitch recognized revenue: $625.6 million</a:t>
            </a:r>
          </a:p>
          <a:p xmlns:a="http://schemas.openxmlformats.org/drawingml/2006/main">
            <a:r>
              <a:rPr lang="en-US"/>
              <a:t>Own differentiated silicon architecture and application validation; use external manufacturing rather than build a wafer fab.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Wafer cost $478.4 million</a:t>
            </a:r>
          </a:p>
          <a:p xmlns:a="http://schemas.openxmlformats.org/drawingml/2006/main">
            <a:r>
              <a:rPr lang="en-US"/>
              <a:t>Package and test $184.0 million</a:t>
            </a:r>
          </a:p>
          <a:p xmlns:a="http://schemas.openxmlformats.org/drawingml/2006/main">
            <a:r>
              <a:rPr lang="en-US"/>
              <a:t>Logistics $73.6 million</a:t>
            </a:r>
          </a:p>
          <a:p xmlns:a="http://schemas.openxmlformats.org/drawingml/2006/main">
            <a:r>
              <a:rPr lang="en-US"/>
              <a:t>These components reconcile to reported COGS.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Engineering opex: $322.0 million</a:t>
            </a:r>
          </a:p>
          <a:p xmlns:a="http://schemas.openxmlformats.org/drawingml/2006/main">
            <a:r>
              <a:rPr lang="en-US"/>
              <a:t>Commercial and administrative opex: $138.0 million</a:t>
            </a:r>
          </a:p>
          <a:p xmlns:a="http://schemas.openxmlformats.org/drawingml/2006/main">
            <a:r>
              <a:rPr lang="en-US"/>
              <a:t>Q2 ending headcount: 2350</a:t>
            </a:r>
          </a:p>
          <a:p xmlns:a="http://schemas.openxmlformats.org/drawingml/2006/main">
            <a:r>
              <a:rPr lang="en-US"/>
              <a:t>Quinn Mercer owns customer qualification; Riley Arden owns release evidence; the effective CFO owns capacity-commitment review.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4.0: 96 INT8 TOPS</a:t>
            </a:r>
          </a:p>
          <a:p xmlns:a="http://schemas.openxmlformats.org/drawingml/2006/main">
            <a:r>
              <a:rPr lang="en-US"/>
              <a:t>GulfSwitch 4.0: 60 V maximum rated input</a:t>
            </a:r>
          </a:p>
          <a:p xmlns:a="http://schemas.openxmlformats.org/drawingml/2006/main">
            <a:r>
              <a:rPr lang="en-US"/>
              <a:t>Target release date: 2023-08-15</a:t>
            </a:r>
          </a:p>
          <a:p xmlns:a="http://schemas.openxmlformats.org/drawingml/2006/main">
            <a:r>
              <a:rPr lang="en-US"/>
              <a:t>Planned at this briefing date; completion is not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Risk: compiler regressions across model updates</a:t>
            </a:r>
          </a:p>
          <a:p xmlns:a="http://schemas.openxmlformats.org/drawingml/2006/main">
            <a:r>
              <a:rPr lang="en-US"/>
              <a:t>Mitigation: freeze the supported operator set and retain regression evidence</a:t>
            </a:r>
          </a:p>
          <a:p xmlns:a="http://schemas.openxmlformats.org/drawingml/2006/main">
            <a:r>
              <a:rPr lang="en-US"/>
              <a:t>treat compiler qualification as part of the hardware delivery promise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Preferred: Stage commitments against qualification evidence.</a:t>
            </a:r>
          </a:p>
          <a:p xmlns:a="http://schemas.openxmlformats.org/drawingml/2006/main">
            <a:r>
              <a:rPr lang="en-US"/>
              <a:t>Alternative: Commit the entire proposed capacity increment immediately.</a:t>
            </a:r>
          </a:p>
          <a:p xmlns:a="http://schemas.openxmlformats.org/drawingml/2006/main">
            <a:r>
              <a:rPr lang="en-US"/>
              <a:t>Staging limits irreversible commitments but can defer some shipment opportunities.</a:t>
            </a:r>
          </a:p>
          <a:p xmlns:a="http://schemas.openxmlformats.org/drawingml/2006/main">
            <a:r>
              <a:rPr lang="en-US"/>
              <a:t>CoralKey Packaging: closed, $85.0 million.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r>
              <a:rPr lang="en-US"/>
              <a:t>Requested; no board approval is recorded in this briefing.</a:t>
            </a:r>
          </a:p>
          <a:p xmlns:a="http://schemas.openxmlformats.org/drawingml/2006/main">
            <a:r>
              <a:rPr lang="en-US"/>
              <a:t>No cash balance, debt balance, free-cash-flow measure or forecast is included.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0553799824f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7f1dbe1f24f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6e8e94e514e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ed818b2b546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cf07fad2e447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a1b6a766a884e4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8f44fddcd4d1e" /><Relationship Type="http://schemas.openxmlformats.org/officeDocument/2006/relationships/notesSlide" Target="/ppt/notesSlides/notesSlide1.xml" Id="R98088693638344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d904102ac46ce" /><Relationship Type="http://schemas.openxmlformats.org/officeDocument/2006/relationships/notesSlide" Target="/ppt/notesSlides/notesSlide2.xml" Id="Rb1705a5aceb246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096c334e34bed" /><Relationship Type="http://schemas.openxmlformats.org/officeDocument/2006/relationships/notesSlide" Target="/ppt/notesSlides/notesSlide3.xml" Id="R2de5727835be49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e52d79f694e45" /><Relationship Type="http://schemas.openxmlformats.org/officeDocument/2006/relationships/notesSlide" Target="/ppt/notesSlides/notesSlide4.xml" Id="Re9f2691132ab4c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6521fbb7d4929" /><Relationship Type="http://schemas.openxmlformats.org/officeDocument/2006/relationships/notesSlide" Target="/ppt/notesSlides/notesSlide5.xml" Id="R99e8b61562e541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d663fca934d3e" /><Relationship Type="http://schemas.openxmlformats.org/officeDocument/2006/relationships/notesSlide" Target="/ppt/notesSlides/notesSlide6.xml" Id="Re34e768d2dce45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f17b4101d46ad" /><Relationship Type="http://schemas.openxmlformats.org/officeDocument/2006/relationships/notesSlide" Target="/ppt/notesSlides/notesSlide7.xml" Id="R9013251533eb47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d5febaea746f8" /><Relationship Type="http://schemas.openxmlformats.org/officeDocument/2006/relationships/notesSlide" Target="/ppt/notesSlides/notesSlide8.xml" Id="R6a48898f9e9546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77dbd4d534546" /><Relationship Type="http://schemas.openxmlformats.org/officeDocument/2006/relationships/notesSlide" Target="/ppt/notesSlides/notesSlide9.xml" Id="R07fe3f68e9b74a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519d87da34368" /><Relationship Type="http://schemas.openxmlformats.org/officeDocument/2006/relationships/notesSlide" Target="/ppt/notesSlides/notesSlide10.xml" Id="R0ebdf7b027a243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2023-07-20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- 2023 Midyear Performance and Capacity Decisions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Software maturity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Avery Rowan, CEO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Midyear actuals and a gated capacity decision; confidential board material.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Actual performance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 readiness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Capacity authority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BOARD 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2023-07-20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Recognized revenue and operating income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Q1 revenue: $1600.0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revenue: $1840.0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operating income: $644.0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and operating income are actuals, not bookings or cash flow.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Q1 revenue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236000" y="2628000"/>
            <a:ext cx="372521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Q2 revenue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236000" y="4374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BOARD CONFIDENTIAL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2023-07-20</a:t>
            </a:r>
          </a:p>
        </p:txBody>
      </p:sp>
      <p:sp>
        <p:nvSpPr>
          <p:cNvPr id="100020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Q2 operating-income bridge</a:t>
            </a:r>
          </a:p>
        </p:txBody>
      </p:sp>
      <p:sp>
        <p:nvSpPr>
          <p:cNvPr id="100021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$1840.0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COGS $736.0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operating expense $460.0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Operating income $644.0 million</a:t>
            </a:r>
          </a:p>
        </p:txBody>
      </p:sp>
      <p:sp>
        <p:nvSpPr>
          <p:cNvPr id="100022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Revenue</a:t>
            </a:r>
          </a:p>
        </p:txBody>
      </p:sp>
      <p:sp>
        <p:nvSpPr>
          <p:cNvPr id="100023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4" name="TextBox 6"/>
          <p:cNvSpPr/>
          <p:nvPr/>
        </p:nvSpPr>
        <p:spPr>
          <a:xfrm xmlns:a="http://schemas.openxmlformats.org/drawingml/2006/main">
            <a:off x="7236000" y="3141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COGS</a:t>
            </a:r>
          </a:p>
        </p:txBody>
      </p:sp>
      <p:sp>
        <p:nvSpPr>
          <p:cNvPr id="100025" name="TextBox 7"/>
          <p:cNvSpPr/>
          <p:nvPr/>
        </p:nvSpPr>
        <p:spPr>
          <a:xfrm xmlns:a="http://schemas.openxmlformats.org/drawingml/2006/main">
            <a:off x="7236000" y="3501000"/>
            <a:ext cx="17136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6" name="TextBox 8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Opex</a:t>
            </a:r>
          </a:p>
        </p:txBody>
      </p:sp>
      <p:sp>
        <p:nvSpPr>
          <p:cNvPr id="100027" name="TextBox 9"/>
          <p:cNvSpPr/>
          <p:nvPr/>
        </p:nvSpPr>
        <p:spPr>
          <a:xfrm xmlns:a="http://schemas.openxmlformats.org/drawingml/2006/main">
            <a:off x="7236000" y="4374000"/>
            <a:ext cx="1071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8" name="TextBox 10"/>
          <p:cNvSpPr/>
          <p:nvPr/>
        </p:nvSpPr>
        <p:spPr>
          <a:xfrm xmlns:a="http://schemas.openxmlformats.org/drawingml/2006/main">
            <a:off x="7236000" y="4887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Operating income</a:t>
            </a:r>
          </a:p>
        </p:txBody>
      </p:sp>
      <p:sp>
        <p:nvSpPr>
          <p:cNvPr id="100029" name="TextBox 11"/>
          <p:cNvSpPr/>
          <p:nvPr/>
        </p:nvSpPr>
        <p:spPr>
          <a:xfrm xmlns:a="http://schemas.openxmlformats.org/drawingml/2006/main">
            <a:off x="7236000" y="5247000"/>
            <a:ext cx="14994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0" name="TextBox 12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31" name="TextBox 13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BOARD CONFIDENTIAL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2023-07-20</a:t>
            </a:r>
          </a:p>
        </p:txBody>
      </p:sp>
      <p:sp>
        <p:nvSpPr>
          <p:cNvPr id="10003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Two silicon franchises fund the strategy</a:t>
            </a:r>
          </a:p>
        </p:txBody>
      </p:sp>
      <p:sp>
        <p:nvSpPr>
          <p:cNvPr id="10003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recognized revenue: $1214.4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recognized revenue: $625.6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Own differentiated silicon architecture and application validation; use external manufacturing rather than build a wafer fab.</a:t>
            </a:r>
          </a:p>
        </p:txBody>
      </p:sp>
      <p:sp>
        <p:nvSpPr>
          <p:cNvPr id="100035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SunCore</a:t>
            </a:r>
          </a:p>
        </p:txBody>
      </p:sp>
      <p:sp>
        <p:nvSpPr>
          <p:cNvPr id="100036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7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GulfSwitch</a:t>
            </a:r>
          </a:p>
        </p:txBody>
      </p:sp>
      <p:sp>
        <p:nvSpPr>
          <p:cNvPr id="100038" name="TextBox 7"/>
          <p:cNvSpPr/>
          <p:nvPr/>
        </p:nvSpPr>
        <p:spPr>
          <a:xfrm xmlns:a="http://schemas.openxmlformats.org/drawingml/2006/main">
            <a:off x="7236000" y="4374000"/>
            <a:ext cx="2206909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9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40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BOARD CONFIDENTIAL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1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2023-07-20</a:t>
            </a:r>
          </a:p>
        </p:txBody>
      </p:sp>
      <p:sp>
        <p:nvSpPr>
          <p:cNvPr id="100042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Manufacturing spend has distinct drivers</a:t>
            </a:r>
          </a:p>
        </p:txBody>
      </p:sp>
      <p:sp>
        <p:nvSpPr>
          <p:cNvPr id="100043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Wafer cost $478.4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Package and test $184.0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Logistics $73.6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These components reconcile to reported COGS.</a:t>
            </a:r>
          </a:p>
        </p:txBody>
      </p:sp>
      <p:sp>
        <p:nvSpPr>
          <p:cNvPr id="100044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Wafer</a:t>
            </a:r>
          </a:p>
        </p:txBody>
      </p:sp>
      <p:sp>
        <p:nvSpPr>
          <p:cNvPr id="100045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6" name="TextBox 6"/>
          <p:cNvSpPr/>
          <p:nvPr/>
        </p:nvSpPr>
        <p:spPr>
          <a:xfrm xmlns:a="http://schemas.openxmlformats.org/drawingml/2006/main">
            <a:off x="7236000" y="3432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Package/test</a:t>
            </a:r>
          </a:p>
        </p:txBody>
      </p:sp>
      <p:sp>
        <p:nvSpPr>
          <p:cNvPr id="100047" name="TextBox 7"/>
          <p:cNvSpPr/>
          <p:nvPr/>
        </p:nvSpPr>
        <p:spPr>
          <a:xfrm xmlns:a="http://schemas.openxmlformats.org/drawingml/2006/main">
            <a:off x="7236000" y="3792000"/>
            <a:ext cx="1647692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8" name="TextBox 8"/>
          <p:cNvSpPr/>
          <p:nvPr/>
        </p:nvSpPr>
        <p:spPr>
          <a:xfrm xmlns:a="http://schemas.openxmlformats.org/drawingml/2006/main">
            <a:off x="7236000" y="4596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Logistics</a:t>
            </a:r>
          </a:p>
        </p:txBody>
      </p:sp>
      <p:sp>
        <p:nvSpPr>
          <p:cNvPr id="100049" name="TextBox 9"/>
          <p:cNvSpPr/>
          <p:nvPr/>
        </p:nvSpPr>
        <p:spPr>
          <a:xfrm xmlns:a="http://schemas.openxmlformats.org/drawingml/2006/main">
            <a:off x="7236000" y="4956000"/>
            <a:ext cx="65907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50" name="TextBox 10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51" name="TextBox 11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BOARD CONFIDENTIAL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2023-07-20</a:t>
            </a:r>
          </a:p>
        </p:txBody>
      </p:sp>
      <p:sp>
        <p:nvSpPr>
          <p:cNvPr id="10005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Engineering investment and release accountability</a:t>
            </a:r>
          </a:p>
        </p:txBody>
      </p:sp>
      <p:sp>
        <p:nvSpPr>
          <p:cNvPr id="10005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opex: $322.0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Commercial and administrative opex: $138.0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ending headcount: 2350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Quinn Mercer owns customer qualification; Riley Arden owns release evidence; the effective CFO owns capacity-commitment review.</a:t>
            </a:r>
          </a:p>
        </p:txBody>
      </p:sp>
      <p:sp>
        <p:nvSpPr>
          <p:cNvPr id="10005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5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qualification</a:t>
            </a:r>
          </a:p>
        </p:txBody>
      </p:sp>
      <p:sp>
        <p:nvSpPr>
          <p:cNvPr id="10005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Finance sign-off</a:t>
            </a:r>
          </a:p>
        </p:txBody>
      </p:sp>
      <p:sp>
        <p:nvSpPr>
          <p:cNvPr id="10006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BOARD CONFIDENTIAL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2023-07-20</a:t>
            </a:r>
          </a:p>
        </p:txBody>
      </p:sp>
      <p:sp>
        <p:nvSpPr>
          <p:cNvPr id="10006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August release gate is still ahead</a:t>
            </a:r>
          </a:p>
        </p:txBody>
      </p:sp>
      <p:sp>
        <p:nvSpPr>
          <p:cNvPr id="10006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4.0: 96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4.0: 60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Target release date: 2023-08-15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Planned at this briefing date; completion is not asserted.</a:t>
            </a:r>
          </a:p>
        </p:txBody>
      </p:sp>
      <p:sp>
        <p:nvSpPr>
          <p:cNvPr id="10006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Specification</a:t>
            </a:r>
          </a:p>
        </p:txBody>
      </p:sp>
      <p:sp>
        <p:nvSpPr>
          <p:cNvPr id="10006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Verification</a:t>
            </a:r>
          </a:p>
        </p:txBody>
      </p:sp>
      <p:sp>
        <p:nvSpPr>
          <p:cNvPr id="10006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release</a:t>
            </a:r>
          </a:p>
        </p:txBody>
      </p:sp>
      <p:sp>
        <p:nvSpPr>
          <p:cNvPr id="10007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BOARD CONFIDENTIAL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2023-07-20</a:t>
            </a:r>
          </a:p>
        </p:txBody>
      </p:sp>
      <p:sp>
        <p:nvSpPr>
          <p:cNvPr id="10007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Concentrate controls on the binding risk</a:t>
            </a:r>
          </a:p>
        </p:txBody>
      </p:sp>
      <p:sp>
        <p:nvSpPr>
          <p:cNvPr id="10007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Risk: compiler regressions across model updates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Mitigation: freeze the supported operator set and retain regression evidence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treat compiler qualification as part of the hardware delivery promise</a:t>
            </a:r>
          </a:p>
        </p:txBody>
      </p:sp>
      <p:sp>
        <p:nvSpPr>
          <p:cNvPr id="10007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Identify dependency</a:t>
            </a:r>
          </a:p>
        </p:txBody>
      </p:sp>
      <p:sp>
        <p:nvSpPr>
          <p:cNvPr id="10007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Retain evidence</a:t>
            </a:r>
          </a:p>
        </p:txBody>
      </p:sp>
      <p:sp>
        <p:nvSpPr>
          <p:cNvPr id="10007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Gate commitment</a:t>
            </a:r>
          </a:p>
        </p:txBody>
      </p:sp>
      <p:sp>
        <p:nvSpPr>
          <p:cNvPr id="10008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BOARD CONFIDENTIAL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8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2023-07-20</a:t>
            </a:r>
          </a:p>
        </p:txBody>
      </p:sp>
      <p:sp>
        <p:nvSpPr>
          <p:cNvPr id="10008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Capacity options and transaction context</a:t>
            </a:r>
          </a:p>
        </p:txBody>
      </p:sp>
      <p:sp>
        <p:nvSpPr>
          <p:cNvPr id="10008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Preferred: Stage commitments against qualification evidence.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Alternative: Commit the entire proposed capacity increment immediately.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Staging limits irreversible commitments but can defer some shipment opportunities.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CoralKey Packaging: closed, $85.0 million.</a:t>
            </a:r>
          </a:p>
        </p:txBody>
      </p:sp>
      <p:sp>
        <p:nvSpPr>
          <p:cNvPr id="10008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Stage commitments</a:t>
            </a:r>
          </a:p>
        </p:txBody>
      </p:sp>
      <p:sp>
        <p:nvSpPr>
          <p:cNvPr id="100087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8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Commit immediately</a:t>
            </a:r>
          </a:p>
        </p:txBody>
      </p:sp>
      <p:sp>
        <p:nvSpPr>
          <p:cNvPr id="100089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BOARD CONFIDENTIAL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9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2023-07-20</a:t>
            </a:r>
          </a:p>
        </p:txBody>
      </p:sp>
      <p:sp>
        <p:nvSpPr>
          <p:cNvPr id="10009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Decision requested and authority retained</a:t>
            </a:r>
          </a:p>
        </p:txBody>
      </p:sp>
      <p:sp>
        <p:nvSpPr>
          <p:cNvPr id="10009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Requested; no board approval is recorded in this briefing.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No cash balance, debt balance, free-cash-flow measure or forecast is included.</a:t>
            </a:r>
          </a:p>
        </p:txBody>
      </p:sp>
      <p:sp>
        <p:nvSpPr>
          <p:cNvPr id="10009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Board direction</a:t>
            </a:r>
          </a:p>
        </p:txBody>
      </p:sp>
      <p:sp>
        <p:nvSpPr>
          <p:cNvPr id="10009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9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Finance release</a:t>
            </a:r>
          </a:p>
        </p:txBody>
      </p:sp>
      <p:sp>
        <p:nvSpPr>
          <p:cNvPr id="10009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BOARD CONFIDENTIAL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2026-10-15T17:19:53.0000000Z</dcterms:created>
  <lastModifiedBy>OfficeCLI</lastModifiedBy>
  <dcterms:modified xsi:type="dcterms:W3CDTF">2026-10-15T17:19:55.0124332Z</dcterms:modified>
  <dc:title>SunnySemi LLC - 2023 Midyear Performance and Capacity Decisions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2026-10-15T17:19:55Z</vt:lpwstr>
  </op:property>
</op:Properties>
</file>