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2e7da77799745d8" /><Relationship Type="http://schemas.openxmlformats.org/package/2006/relationships/metadata/core-properties" Target="/docProps/core.xml" Id="R00d3da602813494d" /><Relationship Type="http://schemas.openxmlformats.org/officeDocument/2006/relationships/extended-properties" Target="/docProps/app.xml" Id="Reae786f70e0f4358" /><Relationship Type="http://schemas.openxmlformats.org/officeDocument/2006/relationships/custom-properties" Target="/docProps/custom.xml" Id="R74efb89e807b476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099bb62337594655"/>
  </p:notesMasterIdLst>
  <p:sldIdLst>
    <p:sldId id="256" r:id="Rca3c1035e4cd43b7"/>
    <p:sldId id="257" r:id="R518b9ff84007407c"/>
    <p:sldId id="258" r:id="Rb9e7abbef9a64a0b"/>
    <p:sldId id="259" r:id="Rb72b97d17331448a"/>
    <p:sldId id="260" r:id="R6d4d5004fdea476b"/>
    <p:sldId id="261" r:id="R7a990cde1e11494a"/>
    <p:sldId id="262" r:id="R429c63c4f25748cb"/>
    <p:sldId id="263" r:id="R4fb29d3341b448ed"/>
    <p:sldId id="264" r:id="R24a68f12568942b9"/>
    <p:sldId id="265" r:id="R86d55b4b1b154632"/>
  </p:sldIdLst>
  <p:sldSz cx="1219212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a3c1035e4cd43b7" /><Relationship Type="http://schemas.openxmlformats.org/officeDocument/2006/relationships/notesMaster" Target="/ppt/notesMasters/notesMaster1.xml" Id="R099bb62337594655" /><Relationship Type="http://schemas.openxmlformats.org/officeDocument/2006/relationships/slide" Target="/ppt/slides/slide2.xml" Id="R518b9ff84007407c" /><Relationship Type="http://schemas.openxmlformats.org/officeDocument/2006/relationships/slide" Target="/ppt/slides/slide3.xml" Id="Rb9e7abbef9a64a0b" /><Relationship Type="http://schemas.openxmlformats.org/officeDocument/2006/relationships/slide" Target="/ppt/slides/slide4.xml" Id="Rb72b97d17331448a" /><Relationship Type="http://schemas.openxmlformats.org/officeDocument/2006/relationships/slide" Target="/ppt/slides/slide5.xml" Id="R6d4d5004fdea476b" /><Relationship Type="http://schemas.openxmlformats.org/officeDocument/2006/relationships/slide" Target="/ppt/slides/slide6.xml" Id="R7a990cde1e11494a" /><Relationship Type="http://schemas.openxmlformats.org/officeDocument/2006/relationships/slide" Target="/ppt/slides/slide7.xml" Id="R429c63c4f25748cb" /><Relationship Type="http://schemas.openxmlformats.org/officeDocument/2006/relationships/slide" Target="/ppt/slides/slide8.xml" Id="R4fb29d3341b448ed" /><Relationship Type="http://schemas.openxmlformats.org/officeDocument/2006/relationships/slide" Target="/ppt/slides/slide9.xml" Id="R24a68f12568942b9" /><Relationship Type="http://schemas.openxmlformats.org/officeDocument/2006/relationships/slide" Target="/ppt/slides/slide10.xml" Id="R86d55b4b1b1546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831ec11b9404ec7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a8cbe36d7a54db7" /><Relationship Type="http://schemas.openxmlformats.org/officeDocument/2006/relationships/slide" Target="/ppt/slides/slide1.xml" Id="Rafdbf8ce7e1341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89bb7b610624fd8" /><Relationship Type="http://schemas.openxmlformats.org/officeDocument/2006/relationships/slide" Target="/ppt/slides/slide2.xml" Id="R632a5d3db44b43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daf4242f82b40f0" /><Relationship Type="http://schemas.openxmlformats.org/officeDocument/2006/relationships/slide" Target="/ppt/slides/slide3.xml" Id="R6a99a6bf7b8e43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b1aaf9a69444b27" /><Relationship Type="http://schemas.openxmlformats.org/officeDocument/2006/relationships/slide" Target="/ppt/slides/slide4.xml" Id="R069f8d87caad4a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3d76812ab1c433f" /><Relationship Type="http://schemas.openxmlformats.org/officeDocument/2006/relationships/slide" Target="/ppt/slides/slide5.xml" Id="R158504ca3c7b40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eae20fb1da44e8e" /><Relationship Type="http://schemas.openxmlformats.org/officeDocument/2006/relationships/slide" Target="/ppt/slides/slide6.xml" Id="R38f37d66b83b42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2a2231a385f42e3" /><Relationship Type="http://schemas.openxmlformats.org/officeDocument/2006/relationships/slide" Target="/ppt/slides/slide7.xml" Id="R7656d4ce42a749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565a95e4372493c" /><Relationship Type="http://schemas.openxmlformats.org/officeDocument/2006/relationships/slide" Target="/ppt/slides/slide8.xml" Id="Rd9720e5708904c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1da43fa4a49439f" /><Relationship Type="http://schemas.openxmlformats.org/officeDocument/2006/relationships/slide" Target="/ppt/slides/slide9.xml" Id="R5839a509fdd246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2a9cf8b8b9d47b9" /><Relationship Type="http://schemas.openxmlformats.org/officeDocument/2006/relationships/slide" Target="/ppt/slides/slide10.xml" Id="R076d5f8c588e41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Thermal accountability</a:t>
            </a:r>
          </a:p>
          <a:p xmlns:a="http://schemas.openxmlformats.org/drawingml/2006/main">
            <a:r>
              <a:rPr lang="en-US"/>
              <a:t>Tampa, Florida</a:t>
            </a:r>
          </a:p>
          <a:p xmlns:a="http://schemas.openxmlformats.org/drawingml/2006/main">
            <a:r>
              <a:rPr lang="en-US"/>
              <a:t>Avery Rowan, CEO</a:t>
            </a:r>
          </a:p>
          <a:p xmlns:a="http://schemas.openxmlformats.org/drawingml/2006/main">
            <a:r>
              <a:rPr lang="en-US"/>
              <a:t>Midyear actuals and a gated capacity decision; confidential board material.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Q1 revenue: $2800.0 million</a:t>
            </a:r>
          </a:p>
          <a:p xmlns:a="http://schemas.openxmlformats.org/drawingml/2006/main">
            <a:r>
              <a:rPr lang="en-US"/>
              <a:t>Q2 revenue: $3220.0 million</a:t>
            </a:r>
          </a:p>
          <a:p xmlns:a="http://schemas.openxmlformats.org/drawingml/2006/main">
            <a:r>
              <a:rPr lang="en-US"/>
              <a:t>Q2 operating income: $1223.6 million</a:t>
            </a:r>
          </a:p>
          <a:p xmlns:a="http://schemas.openxmlformats.org/drawingml/2006/main">
            <a:r>
              <a:rPr lang="en-US"/>
              <a:t>Revenue and operating income are actuals, not bookings or cash flow.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Revenue $3220.0 million</a:t>
            </a:r>
          </a:p>
          <a:p xmlns:a="http://schemas.openxmlformats.org/drawingml/2006/main">
            <a:r>
              <a:rPr lang="en-US"/>
              <a:t>Less COGS $1223.6 million</a:t>
            </a:r>
          </a:p>
          <a:p xmlns:a="http://schemas.openxmlformats.org/drawingml/2006/main">
            <a:r>
              <a:rPr lang="en-US"/>
              <a:t>Less operating expense $772.8 million</a:t>
            </a:r>
          </a:p>
          <a:p xmlns:a="http://schemas.openxmlformats.org/drawingml/2006/main">
            <a:r>
              <a:rPr lang="en-US"/>
              <a:t>Operating income $1223.6 million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SunCore recognized revenue: $2189.6 million</a:t>
            </a:r>
          </a:p>
          <a:p xmlns:a="http://schemas.openxmlformats.org/drawingml/2006/main">
            <a:r>
              <a:rPr lang="en-US"/>
              <a:t>GulfSwitch recognized revenue: $1030.4 million</a:t>
            </a:r>
          </a:p>
          <a:p xmlns:a="http://schemas.openxmlformats.org/drawingml/2006/main">
            <a:r>
              <a:rPr lang="en-US"/>
              <a:t>Own differentiated silicon architecture and application validation; use external manufacturing rather than build a wafer fab.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Wafer cost $795.3 million</a:t>
            </a:r>
          </a:p>
          <a:p xmlns:a="http://schemas.openxmlformats.org/drawingml/2006/main">
            <a:r>
              <a:rPr lang="en-US"/>
              <a:t>Package and test $305.9 million</a:t>
            </a:r>
          </a:p>
          <a:p xmlns:a="http://schemas.openxmlformats.org/drawingml/2006/main">
            <a:r>
              <a:rPr lang="en-US"/>
              <a:t>Logistics $122.4 million</a:t>
            </a:r>
          </a:p>
          <a:p xmlns:a="http://schemas.openxmlformats.org/drawingml/2006/main">
            <a:r>
              <a:rPr lang="en-US"/>
              <a:t>These components reconcile to reported COGS.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Engineering opex: $541.0 million</a:t>
            </a:r>
          </a:p>
          <a:p xmlns:a="http://schemas.openxmlformats.org/drawingml/2006/main">
            <a:r>
              <a:rPr lang="en-US"/>
              <a:t>Commercial and administrative opex: $231.8 million</a:t>
            </a:r>
          </a:p>
          <a:p xmlns:a="http://schemas.openxmlformats.org/drawingml/2006/main">
            <a:r>
              <a:rPr lang="en-US"/>
              <a:t>Q2 ending headcount: 3580</a:t>
            </a:r>
          </a:p>
          <a:p xmlns:a="http://schemas.openxmlformats.org/drawingml/2006/main">
            <a:r>
              <a:rPr lang="en-US"/>
              <a:t>Quinn Mercer owns customer qualification; Riley Arden owns release evidence; the effective CFO owns capacity-commitment review.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SunCore 5.0: 160 INT8 TOPS</a:t>
            </a:r>
          </a:p>
          <a:p xmlns:a="http://schemas.openxmlformats.org/drawingml/2006/main">
            <a:r>
              <a:rPr lang="en-US"/>
              <a:t>GulfSwitch 5.0: 80 V maximum rated input</a:t>
            </a:r>
          </a:p>
          <a:p xmlns:a="http://schemas.openxmlformats.org/drawingml/2006/main">
            <a:r>
              <a:rPr lang="en-US"/>
              <a:t>Target release date: 2024-08-15</a:t>
            </a:r>
          </a:p>
          <a:p xmlns:a="http://schemas.openxmlformats.org/drawingml/2006/main">
            <a:r>
              <a:rPr lang="en-US"/>
              <a:t>Planned at this briefing date; completion is not asserted.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Risk: customer enclosures with inadequate thermal headroom</a:t>
            </a:r>
          </a:p>
          <a:p xmlns:a="http://schemas.openxmlformats.org/drawingml/2006/main">
            <a:r>
              <a:rPr lang="en-US"/>
              <a:t>Mitigation: require board-level thermal evidence before ramp approval</a:t>
            </a:r>
          </a:p>
          <a:p xmlns:a="http://schemas.openxmlformats.org/drawingml/2006/main">
            <a:r>
              <a:rPr lang="en-US"/>
              <a:t>prefer a verified operating point to an unsupported peak-performance claim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Preferred: Stage commitments against qualification evidence.</a:t>
            </a:r>
          </a:p>
          <a:p xmlns:a="http://schemas.openxmlformats.org/drawingml/2006/main">
            <a:r>
              <a:rPr lang="en-US"/>
              <a:t>Alternative: Commit the entire proposed capacity increment immediately.</a:t>
            </a:r>
          </a:p>
          <a:p xmlns:a="http://schemas.openxmlformats.org/drawingml/2006/main">
            <a:r>
              <a:rPr lang="en-US"/>
              <a:t>Staging limits irreversible commitments but can defer some shipment opportunities.</a:t>
            </a:r>
          </a:p>
          <a:p xmlns:a="http://schemas.openxmlformats.org/drawingml/2006/main">
            <a:r>
              <a:rPr lang="en-US"/>
              <a:t>CoralKey Packaging: closed, $85.0 million.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Approve milestone-based capacity releases; retain existing commercial approval limits and require Finance and Engineering sign-off before each increment.</a:t>
            </a:r>
          </a:p>
          <a:p xmlns:a="http://schemas.openxmlformats.org/drawingml/2006/main">
            <a:r>
              <a:rPr lang="en-US"/>
              <a:t>Requested; no board approval is recorded in this briefing.</a:t>
            </a:r>
          </a:p>
          <a:p xmlns:a="http://schemas.openxmlformats.org/drawingml/2006/main">
            <a:r>
              <a:rPr lang="en-US"/>
              <a:t>No cash balance, debt balance, free-cash-flow measure or forecast is included.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b6e27981294b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e2cc59c40443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3e044a27b14f1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f0a34fc17c4e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fa6062bc93439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a742e847d2994e1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c8bdd34204798" /><Relationship Type="http://schemas.openxmlformats.org/officeDocument/2006/relationships/notesSlide" Target="/ppt/notesSlides/notesSlide1.xml" Id="Rbfabb26433bf44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821af04804e2f" /><Relationship Type="http://schemas.openxmlformats.org/officeDocument/2006/relationships/notesSlide" Target="/ppt/notesSlides/notesSlide2.xml" Id="Re1823424440549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19cb417d94daf" /><Relationship Type="http://schemas.openxmlformats.org/officeDocument/2006/relationships/notesSlide" Target="/ppt/notesSlides/notesSlide3.xml" Id="R35d6436dd60e42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9437085564fd2" /><Relationship Type="http://schemas.openxmlformats.org/officeDocument/2006/relationships/notesSlide" Target="/ppt/notesSlides/notesSlide4.xml" Id="R9b8ead0756374c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de63346df40e1" /><Relationship Type="http://schemas.openxmlformats.org/officeDocument/2006/relationships/notesSlide" Target="/ppt/notesSlides/notesSlide5.xml" Id="R1e9738ec998749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12275be14434f" /><Relationship Type="http://schemas.openxmlformats.org/officeDocument/2006/relationships/notesSlide" Target="/ppt/notesSlides/notesSlide6.xml" Id="R263aa5ce06fc4e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8712285fd450b" /><Relationship Type="http://schemas.openxmlformats.org/officeDocument/2006/relationships/notesSlide" Target="/ppt/notesSlides/notesSlide7.xml" Id="R19936ac3c20441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cd258ede34898" /><Relationship Type="http://schemas.openxmlformats.org/officeDocument/2006/relationships/notesSlide" Target="/ppt/notesSlides/notesSlide8.xml" Id="R598e02f0f99545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f30f275c04f2d" /><Relationship Type="http://schemas.openxmlformats.org/officeDocument/2006/relationships/notesSlide" Target="/ppt/notesSlides/notesSlide9.xml" Id="R48e29133c64946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8756d0ef1464e" /><Relationship Type="http://schemas.openxmlformats.org/officeDocument/2006/relationships/notesSlide" Target="/ppt/notesSlides/notesSlide10.xml" Id="Rf24dc1de2f4e4d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2024-07-20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SunnySemi LLC - 2024 Midyear Performance and Capacity Decisions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Thermal accountability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Tampa, Florida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Avery Rowan, CEO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Midyear actuals and a gated capacity decision; confidential board material.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Actual performance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0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Release readiness</a:t>
            </a:r>
          </a:p>
        </p:txBody>
      </p:sp>
      <p:sp>
        <p:nvSpPr>
          <p:cNvPr id="10000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0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Capacity authority</a:t>
            </a:r>
          </a:p>
        </p:txBody>
      </p:sp>
      <p:sp>
        <p:nvSpPr>
          <p:cNvPr id="10000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01  |  BOARD CONFIDENTIAL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2024-07-20</a:t>
            </a:r>
          </a:p>
        </p:txBody>
      </p:sp>
      <p:sp>
        <p:nvSpPr>
          <p:cNvPr id="10001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Recognized revenue and operating income</a:t>
            </a:r>
          </a:p>
        </p:txBody>
      </p:sp>
      <p:sp>
        <p:nvSpPr>
          <p:cNvPr id="10001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Q1 revenue: $2800.0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Q2 revenue: $3220.0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Q2 operating income: $1223.6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Revenue and operating income are actuals, not bookings or cash flow.</a:t>
            </a:r>
          </a:p>
        </p:txBody>
      </p:sp>
      <p:sp>
        <p:nvSpPr>
          <p:cNvPr id="100013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Q1 revenue</a:t>
            </a:r>
          </a:p>
        </p:txBody>
      </p:sp>
      <p:sp>
        <p:nvSpPr>
          <p:cNvPr id="100014" name="TextBox 5"/>
          <p:cNvSpPr/>
          <p:nvPr/>
        </p:nvSpPr>
        <p:spPr>
          <a:xfrm xmlns:a="http://schemas.openxmlformats.org/drawingml/2006/main">
            <a:off x="7236000" y="2628000"/>
            <a:ext cx="3725217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15" name="TextBox 6"/>
          <p:cNvSpPr/>
          <p:nvPr/>
        </p:nvSpPr>
        <p:spPr>
          <a:xfrm xmlns:a="http://schemas.openxmlformats.org/drawingml/2006/main">
            <a:off x="7236000" y="4014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Q2 revenue</a:t>
            </a:r>
          </a:p>
        </p:txBody>
      </p:sp>
      <p:sp>
        <p:nvSpPr>
          <p:cNvPr id="100016" name="TextBox 7"/>
          <p:cNvSpPr/>
          <p:nvPr/>
        </p:nvSpPr>
        <p:spPr>
          <a:xfrm xmlns:a="http://schemas.openxmlformats.org/drawingml/2006/main">
            <a:off x="7236000" y="4374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17" name="TextBox 8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18" name="TextBox 9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02  |  BOARD CONFIDENTIAL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9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2024-07-20</a:t>
            </a:r>
          </a:p>
        </p:txBody>
      </p:sp>
      <p:sp>
        <p:nvSpPr>
          <p:cNvPr id="100020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Q2 operating-income bridge</a:t>
            </a:r>
          </a:p>
        </p:txBody>
      </p:sp>
      <p:sp>
        <p:nvSpPr>
          <p:cNvPr id="100021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Revenue $3220.0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Less COGS $1223.6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Less operating expense $772.8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Operating income $1223.6 million</a:t>
            </a:r>
          </a:p>
        </p:txBody>
      </p:sp>
      <p:sp>
        <p:nvSpPr>
          <p:cNvPr id="100022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Revenue</a:t>
            </a:r>
          </a:p>
        </p:txBody>
      </p:sp>
      <p:sp>
        <p:nvSpPr>
          <p:cNvPr id="100023" name="TextBox 5"/>
          <p:cNvSpPr/>
          <p:nvPr/>
        </p:nvSpPr>
        <p:spPr>
          <a:xfrm xmlns:a="http://schemas.openxmlformats.org/drawingml/2006/main">
            <a:off x="7236000" y="2628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24" name="TextBox 6"/>
          <p:cNvSpPr/>
          <p:nvPr/>
        </p:nvSpPr>
        <p:spPr>
          <a:xfrm xmlns:a="http://schemas.openxmlformats.org/drawingml/2006/main">
            <a:off x="7236000" y="3141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COGS</a:t>
            </a:r>
          </a:p>
        </p:txBody>
      </p:sp>
      <p:sp>
        <p:nvSpPr>
          <p:cNvPr id="100025" name="TextBox 7"/>
          <p:cNvSpPr/>
          <p:nvPr/>
        </p:nvSpPr>
        <p:spPr>
          <a:xfrm xmlns:a="http://schemas.openxmlformats.org/drawingml/2006/main">
            <a:off x="7236000" y="3501000"/>
            <a:ext cx="162792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26" name="TextBox 8"/>
          <p:cNvSpPr/>
          <p:nvPr/>
        </p:nvSpPr>
        <p:spPr>
          <a:xfrm xmlns:a="http://schemas.openxmlformats.org/drawingml/2006/main">
            <a:off x="7236000" y="4014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Opex</a:t>
            </a:r>
          </a:p>
        </p:txBody>
      </p:sp>
      <p:sp>
        <p:nvSpPr>
          <p:cNvPr id="100027" name="TextBox 9"/>
          <p:cNvSpPr/>
          <p:nvPr/>
        </p:nvSpPr>
        <p:spPr>
          <a:xfrm xmlns:a="http://schemas.openxmlformats.org/drawingml/2006/main">
            <a:off x="7236000" y="4374000"/>
            <a:ext cx="102816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28" name="TextBox 10"/>
          <p:cNvSpPr/>
          <p:nvPr/>
        </p:nvSpPr>
        <p:spPr>
          <a:xfrm xmlns:a="http://schemas.openxmlformats.org/drawingml/2006/main">
            <a:off x="7236000" y="4887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Operating income</a:t>
            </a:r>
          </a:p>
        </p:txBody>
      </p:sp>
      <p:sp>
        <p:nvSpPr>
          <p:cNvPr id="100029" name="TextBox 11"/>
          <p:cNvSpPr/>
          <p:nvPr/>
        </p:nvSpPr>
        <p:spPr>
          <a:xfrm xmlns:a="http://schemas.openxmlformats.org/drawingml/2006/main">
            <a:off x="7236000" y="5247000"/>
            <a:ext cx="162792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30" name="TextBox 12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31" name="TextBox 13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03  |  BOARD CONFIDENTIAL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2024-07-20</a:t>
            </a:r>
          </a:p>
        </p:txBody>
      </p:sp>
      <p:sp>
        <p:nvSpPr>
          <p:cNvPr id="10003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Two silicon franchises fund the strategy</a:t>
            </a:r>
          </a:p>
        </p:txBody>
      </p:sp>
      <p:sp>
        <p:nvSpPr>
          <p:cNvPr id="10003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SunCore recognized revenue: $2189.6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GulfSwitch recognized revenue: $1030.4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Own differentiated silicon architecture and application validation; use external manufacturing rather than build a wafer fab.</a:t>
            </a:r>
          </a:p>
        </p:txBody>
      </p:sp>
      <p:sp>
        <p:nvSpPr>
          <p:cNvPr id="100035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SunCore</a:t>
            </a:r>
          </a:p>
        </p:txBody>
      </p:sp>
      <p:sp>
        <p:nvSpPr>
          <p:cNvPr id="100036" name="TextBox 5"/>
          <p:cNvSpPr/>
          <p:nvPr/>
        </p:nvSpPr>
        <p:spPr>
          <a:xfrm xmlns:a="http://schemas.openxmlformats.org/drawingml/2006/main">
            <a:off x="7236000" y="2628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37" name="TextBox 6"/>
          <p:cNvSpPr/>
          <p:nvPr/>
        </p:nvSpPr>
        <p:spPr>
          <a:xfrm xmlns:a="http://schemas.openxmlformats.org/drawingml/2006/main">
            <a:off x="7236000" y="4014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GulfSwitch</a:t>
            </a:r>
          </a:p>
        </p:txBody>
      </p:sp>
      <p:sp>
        <p:nvSpPr>
          <p:cNvPr id="100038" name="TextBox 7"/>
          <p:cNvSpPr/>
          <p:nvPr/>
        </p:nvSpPr>
        <p:spPr>
          <a:xfrm xmlns:a="http://schemas.openxmlformats.org/drawingml/2006/main">
            <a:off x="7236000" y="4374000"/>
            <a:ext cx="2016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39" name="TextBox 8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40" name="TextBox 9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04  |  BOARD CONFIDENTIAL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41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2024-07-20</a:t>
            </a:r>
          </a:p>
        </p:txBody>
      </p:sp>
      <p:sp>
        <p:nvSpPr>
          <p:cNvPr id="100042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Manufacturing spend has distinct drivers</a:t>
            </a:r>
          </a:p>
        </p:txBody>
      </p:sp>
      <p:sp>
        <p:nvSpPr>
          <p:cNvPr id="100043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Wafer cost $795.3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Package and test $305.9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Logistics $122.4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These components reconcile to reported COGS.</a:t>
            </a:r>
          </a:p>
        </p:txBody>
      </p:sp>
      <p:sp>
        <p:nvSpPr>
          <p:cNvPr id="100044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Wafer</a:t>
            </a:r>
          </a:p>
        </p:txBody>
      </p:sp>
      <p:sp>
        <p:nvSpPr>
          <p:cNvPr id="100045" name="TextBox 5"/>
          <p:cNvSpPr/>
          <p:nvPr/>
        </p:nvSpPr>
        <p:spPr>
          <a:xfrm xmlns:a="http://schemas.openxmlformats.org/drawingml/2006/main">
            <a:off x="7236000" y="2628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46" name="TextBox 6"/>
          <p:cNvSpPr/>
          <p:nvPr/>
        </p:nvSpPr>
        <p:spPr>
          <a:xfrm xmlns:a="http://schemas.openxmlformats.org/drawingml/2006/main">
            <a:off x="7236000" y="3432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Package/test</a:t>
            </a:r>
          </a:p>
        </p:txBody>
      </p:sp>
      <p:sp>
        <p:nvSpPr>
          <p:cNvPr id="100047" name="TextBox 7"/>
          <p:cNvSpPr/>
          <p:nvPr/>
        </p:nvSpPr>
        <p:spPr>
          <a:xfrm xmlns:a="http://schemas.openxmlformats.org/drawingml/2006/main">
            <a:off x="7236000" y="3792000"/>
            <a:ext cx="1647692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48" name="TextBox 8"/>
          <p:cNvSpPr/>
          <p:nvPr/>
        </p:nvSpPr>
        <p:spPr>
          <a:xfrm xmlns:a="http://schemas.openxmlformats.org/drawingml/2006/main">
            <a:off x="7236000" y="4596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Logistics</a:t>
            </a:r>
          </a:p>
        </p:txBody>
      </p:sp>
      <p:sp>
        <p:nvSpPr>
          <p:cNvPr id="100049" name="TextBox 9"/>
          <p:cNvSpPr/>
          <p:nvPr/>
        </p:nvSpPr>
        <p:spPr>
          <a:xfrm xmlns:a="http://schemas.openxmlformats.org/drawingml/2006/main">
            <a:off x="7236000" y="4956000"/>
            <a:ext cx="659077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50" name="TextBox 10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51" name="TextBox 11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05  |  BOARD CONFIDENTIAL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5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2024-07-20</a:t>
            </a:r>
          </a:p>
        </p:txBody>
      </p:sp>
      <p:sp>
        <p:nvSpPr>
          <p:cNvPr id="10005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Engineering investment and release accountability</a:t>
            </a:r>
          </a:p>
        </p:txBody>
      </p:sp>
      <p:sp>
        <p:nvSpPr>
          <p:cNvPr id="10005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Engineering opex: $541.0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Commercial and administrative opex: $231.8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Q2 ending headcount: 3580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Quinn Mercer owns customer qualification; Riley Arden owns release evidence; the effective CFO owns capacity-commitment review.</a:t>
            </a:r>
          </a:p>
        </p:txBody>
      </p:sp>
      <p:sp>
        <p:nvSpPr>
          <p:cNvPr id="10005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5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Engineering evidence</a:t>
            </a:r>
          </a:p>
        </p:txBody>
      </p:sp>
      <p:sp>
        <p:nvSpPr>
          <p:cNvPr id="100057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58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qualification</a:t>
            </a:r>
          </a:p>
        </p:txBody>
      </p:sp>
      <p:sp>
        <p:nvSpPr>
          <p:cNvPr id="100059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60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Finance sign-off</a:t>
            </a:r>
          </a:p>
        </p:txBody>
      </p:sp>
      <p:sp>
        <p:nvSpPr>
          <p:cNvPr id="100061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06  |  BOARD CONFIDENTIAL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6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2024-07-20</a:t>
            </a:r>
          </a:p>
        </p:txBody>
      </p:sp>
      <p:sp>
        <p:nvSpPr>
          <p:cNvPr id="10006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August release gate is still ahead</a:t>
            </a:r>
          </a:p>
        </p:txBody>
      </p:sp>
      <p:sp>
        <p:nvSpPr>
          <p:cNvPr id="10006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SunCore 5.0: 160 INT8 TOPS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GulfSwitch 5.0: 80 V maximum rated input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Target release date: 2024-08-15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Planned at this briefing date; completion is not asserted.</a:t>
            </a:r>
          </a:p>
        </p:txBody>
      </p:sp>
      <p:sp>
        <p:nvSpPr>
          <p:cNvPr id="10006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6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Specification</a:t>
            </a:r>
          </a:p>
        </p:txBody>
      </p:sp>
      <p:sp>
        <p:nvSpPr>
          <p:cNvPr id="100067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68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Verification</a:t>
            </a:r>
          </a:p>
        </p:txBody>
      </p:sp>
      <p:sp>
        <p:nvSpPr>
          <p:cNvPr id="100069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70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Production release</a:t>
            </a:r>
          </a:p>
        </p:txBody>
      </p:sp>
      <p:sp>
        <p:nvSpPr>
          <p:cNvPr id="100071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07  |  BOARD CONFIDENTIAL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7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2024-07-20</a:t>
            </a:r>
          </a:p>
        </p:txBody>
      </p:sp>
      <p:sp>
        <p:nvSpPr>
          <p:cNvPr id="10007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Concentrate controls on the binding risk</a:t>
            </a:r>
          </a:p>
        </p:txBody>
      </p:sp>
      <p:sp>
        <p:nvSpPr>
          <p:cNvPr id="10007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Risk: customer enclosures with inadequate thermal headroom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Mitigation: require board-level thermal evidence before ramp approval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prefer a verified operating point to an unsupported peak-performance claim</a:t>
            </a:r>
          </a:p>
        </p:txBody>
      </p:sp>
      <p:sp>
        <p:nvSpPr>
          <p:cNvPr id="10007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7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Identify dependency</a:t>
            </a:r>
          </a:p>
        </p:txBody>
      </p:sp>
      <p:sp>
        <p:nvSpPr>
          <p:cNvPr id="100077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78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Retain evidence</a:t>
            </a:r>
          </a:p>
        </p:txBody>
      </p:sp>
      <p:sp>
        <p:nvSpPr>
          <p:cNvPr id="100079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80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Gate commitment</a:t>
            </a:r>
          </a:p>
        </p:txBody>
      </p:sp>
      <p:sp>
        <p:nvSpPr>
          <p:cNvPr id="100081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08  |  BOARD CONFIDENTIAL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8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2024-07-20</a:t>
            </a:r>
          </a:p>
        </p:txBody>
      </p:sp>
      <p:sp>
        <p:nvSpPr>
          <p:cNvPr id="10008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Capacity options and transaction context</a:t>
            </a:r>
          </a:p>
        </p:txBody>
      </p:sp>
      <p:sp>
        <p:nvSpPr>
          <p:cNvPr id="10008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Preferred: Stage commitments against qualification evidence.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Alternative: Commit the entire proposed capacity increment immediately.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Staging limits irreversible commitments but can defer some shipment opportunities.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CoralKey Packaging: closed, $85.0 million.</a:t>
            </a:r>
          </a:p>
        </p:txBody>
      </p:sp>
      <p:sp>
        <p:nvSpPr>
          <p:cNvPr id="10008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8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Stage commitments</a:t>
            </a:r>
          </a:p>
        </p:txBody>
      </p:sp>
      <p:sp>
        <p:nvSpPr>
          <p:cNvPr id="100087" name="TextBox 6"/>
          <p:cNvSpPr/>
          <p:nvPr/>
        </p:nvSpPr>
        <p:spPr>
          <a:xfrm xmlns:a="http://schemas.openxmlformats.org/drawingml/2006/main">
            <a:off x="7236000" y="4086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88" name="TextBox 7"/>
          <p:cNvSpPr/>
          <p:nvPr/>
        </p:nvSpPr>
        <p:spPr>
          <a:xfrm xmlns:a="http://schemas.openxmlformats.org/drawingml/2006/main">
            <a:off x="7920000" y="4086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Commit immediately</a:t>
            </a:r>
          </a:p>
        </p:txBody>
      </p:sp>
      <p:sp>
        <p:nvSpPr>
          <p:cNvPr id="100089" name="TextBox 8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09  |  BOARD CONFIDENTIAL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9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2024-07-20</a:t>
            </a:r>
          </a:p>
        </p:txBody>
      </p:sp>
      <p:sp>
        <p:nvSpPr>
          <p:cNvPr id="10009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Decision requested and authority retained</a:t>
            </a:r>
          </a:p>
        </p:txBody>
      </p:sp>
      <p:sp>
        <p:nvSpPr>
          <p:cNvPr id="10009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Approve milestone-based capacity releases; retain existing commercial approval limits and require Finance and Engineering sign-off before each increment.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Requested; no board approval is recorded in this briefing.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No cash balance, debt balance, free-cash-flow measure or forecast is included.</a:t>
            </a:r>
          </a:p>
        </p:txBody>
      </p:sp>
      <p:sp>
        <p:nvSpPr>
          <p:cNvPr id="10009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9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Board direction</a:t>
            </a:r>
          </a:p>
        </p:txBody>
      </p:sp>
      <p:sp>
        <p:nvSpPr>
          <p:cNvPr id="10009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9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Engineering evidence</a:t>
            </a:r>
          </a:p>
        </p:txBody>
      </p:sp>
      <p:sp>
        <p:nvSpPr>
          <p:cNvPr id="10009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9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Finance release</a:t>
            </a:r>
          </a:p>
        </p:txBody>
      </p:sp>
      <p:sp>
        <p:nvSpPr>
          <p:cNvPr id="10009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10  |  BOARD CONFIDENTIAL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SunnySemi LLC</dc:creator>
  <dcterms:created xsi:type="dcterms:W3CDTF">2026-10-15T17:20:26.0000000Z</dcterms:created>
  <lastModifiedBy>OfficeCLI</lastModifiedBy>
  <dcterms:modified xsi:type="dcterms:W3CDTF">2026-10-15T17:20:28.2377615Z</dcterms:modified>
  <dc:title>SunnySemi LLC - 2024 Midyear Performance and Capacity Decisions</dc:title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2026-10-15T17:20:28Z</vt:lpwstr>
  </op:property>
</op:Properties>
</file>