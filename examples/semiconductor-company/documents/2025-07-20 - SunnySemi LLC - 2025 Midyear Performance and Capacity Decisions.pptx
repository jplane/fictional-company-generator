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85ba776ad6b4840" /><Relationship Type="http://schemas.openxmlformats.org/package/2006/relationships/metadata/core-properties" Target="/docProps/core.xml" Id="Re9a516346a27402b" /><Relationship Type="http://schemas.openxmlformats.org/officeDocument/2006/relationships/extended-properties" Target="/docProps/app.xml" Id="R5d54cc3ee6194af6" /><Relationship Type="http://schemas.openxmlformats.org/officeDocument/2006/relationships/custom-properties" Target="/docProps/custom.xml" Id="Re350f7400960412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e6a142cb3404ae2"/>
  </p:notesMasterIdLst>
  <p:sldIdLst>
    <p:sldId id="256" r:id="R90baceadabff434e"/>
    <p:sldId id="257" r:id="R125317304a4c420f"/>
    <p:sldId id="258" r:id="R09fbeb5722b341e1"/>
    <p:sldId id="259" r:id="R4b8d0224536848e7"/>
    <p:sldId id="260" r:id="Rd84af177a7b3464e"/>
    <p:sldId id="261" r:id="Rc30643f1f7d840fd"/>
    <p:sldId id="262" r:id="R3ec59aa5e8e64eae"/>
    <p:sldId id="263" r:id="Rb2a06ef8c23244ff"/>
    <p:sldId id="264" r:id="R4b193728658e48e1"/>
    <p:sldId id="265" r:id="Rf63556500d8d4e6a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0baceadabff434e" /><Relationship Type="http://schemas.openxmlformats.org/officeDocument/2006/relationships/notesMaster" Target="/ppt/notesMasters/notesMaster1.xml" Id="Rce6a142cb3404ae2" /><Relationship Type="http://schemas.openxmlformats.org/officeDocument/2006/relationships/slide" Target="/ppt/slides/slide2.xml" Id="R125317304a4c420f" /><Relationship Type="http://schemas.openxmlformats.org/officeDocument/2006/relationships/slide" Target="/ppt/slides/slide3.xml" Id="R09fbeb5722b341e1" /><Relationship Type="http://schemas.openxmlformats.org/officeDocument/2006/relationships/slide" Target="/ppt/slides/slide4.xml" Id="R4b8d0224536848e7" /><Relationship Type="http://schemas.openxmlformats.org/officeDocument/2006/relationships/slide" Target="/ppt/slides/slide5.xml" Id="Rd84af177a7b3464e" /><Relationship Type="http://schemas.openxmlformats.org/officeDocument/2006/relationships/slide" Target="/ppt/slides/slide6.xml" Id="Rc30643f1f7d840fd" /><Relationship Type="http://schemas.openxmlformats.org/officeDocument/2006/relationships/slide" Target="/ppt/slides/slide7.xml" Id="R3ec59aa5e8e64eae" /><Relationship Type="http://schemas.openxmlformats.org/officeDocument/2006/relationships/slide" Target="/ppt/slides/slide8.xml" Id="Rb2a06ef8c23244ff" /><Relationship Type="http://schemas.openxmlformats.org/officeDocument/2006/relationships/slide" Target="/ppt/slides/slide9.xml" Id="R4b193728658e48e1" /><Relationship Type="http://schemas.openxmlformats.org/officeDocument/2006/relationships/slide" Target="/ppt/slides/slide10.xml" Id="Rf63556500d8d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6c339a8a994ae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0177f3a058f4002" /><Relationship Type="http://schemas.openxmlformats.org/officeDocument/2006/relationships/slide" Target="/ppt/slides/slide1.xml" Id="R6ab2a617d83347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6cbc000b754f3a" /><Relationship Type="http://schemas.openxmlformats.org/officeDocument/2006/relationships/slide" Target="/ppt/slides/slide2.xml" Id="R29c8835e63a145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2f60dee0744a97" /><Relationship Type="http://schemas.openxmlformats.org/officeDocument/2006/relationships/slide" Target="/ppt/slides/slide3.xml" Id="Re00b481109114e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00bdee6fa54ee5" /><Relationship Type="http://schemas.openxmlformats.org/officeDocument/2006/relationships/slide" Target="/ppt/slides/slide4.xml" Id="R617a318c07ab45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3d49c67b054bad" /><Relationship Type="http://schemas.openxmlformats.org/officeDocument/2006/relationships/slide" Target="/ppt/slides/slide5.xml" Id="Ra9e4e0247cb4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804f6182ef45bc" /><Relationship Type="http://schemas.openxmlformats.org/officeDocument/2006/relationships/slide" Target="/ppt/slides/slide6.xml" Id="R427aa370bdde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7f4fed5fe041ed" /><Relationship Type="http://schemas.openxmlformats.org/officeDocument/2006/relationships/slide" Target="/ppt/slides/slide7.xml" Id="Raf54026413584e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264af066b864287" /><Relationship Type="http://schemas.openxmlformats.org/officeDocument/2006/relationships/slide" Target="/ppt/slides/slide8.xml" Id="Rabaa8147356446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f28bbf66c354f0e" /><Relationship Type="http://schemas.openxmlformats.org/officeDocument/2006/relationships/slide" Target="/ppt/slides/slide9.xml" Id="R02392a7bc99d4e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ce19b0185144f5b" /><Relationship Type="http://schemas.openxmlformats.org/officeDocument/2006/relationships/slide" Target="/ppt/slides/slide10.xml" Id="R39f97435cbbe43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Profitable scale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$4600.0 million</a:t>
            </a:r>
          </a:p>
          <a:p xmlns:a="http://schemas.openxmlformats.org/drawingml/2006/main">
            <a:r>
              <a:rPr lang="en-US"/>
              <a:t>Q2 revenue: $5290.0 million</a:t>
            </a:r>
          </a:p>
          <a:p xmlns:a="http://schemas.openxmlformats.org/drawingml/2006/main">
            <a:r>
              <a:rPr lang="en-US"/>
              <a:t>Q2 operating income: $2168.9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$5290.0 million</a:t>
            </a:r>
          </a:p>
          <a:p xmlns:a="http://schemas.openxmlformats.org/drawingml/2006/main">
            <a:r>
              <a:rPr lang="en-US"/>
              <a:t>Less COGS $1904.4 million</a:t>
            </a:r>
          </a:p>
          <a:p xmlns:a="http://schemas.openxmlformats.org/drawingml/2006/main">
            <a:r>
              <a:rPr lang="en-US"/>
              <a:t>Less operating expense $1216.7 million</a:t>
            </a:r>
          </a:p>
          <a:p xmlns:a="http://schemas.openxmlformats.org/drawingml/2006/main">
            <a:r>
              <a:rPr lang="en-US"/>
              <a:t>Operating income $2168.9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$3703.0 million</a:t>
            </a:r>
          </a:p>
          <a:p xmlns:a="http://schemas.openxmlformats.org/drawingml/2006/main">
            <a:r>
              <a:rPr lang="en-US"/>
              <a:t>GulfSwitch recognized revenue: $1587.0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$1237.9 million</a:t>
            </a:r>
          </a:p>
          <a:p xmlns:a="http://schemas.openxmlformats.org/drawingml/2006/main">
            <a:r>
              <a:rPr lang="en-US"/>
              <a:t>Package and test $476.1 million</a:t>
            </a:r>
          </a:p>
          <a:p xmlns:a="http://schemas.openxmlformats.org/drawingml/2006/main">
            <a:r>
              <a:rPr lang="en-US"/>
              <a:t>Logistics $190.4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$851.7 million</a:t>
            </a:r>
          </a:p>
          <a:p xmlns:a="http://schemas.openxmlformats.org/drawingml/2006/main">
            <a:r>
              <a:rPr lang="en-US"/>
              <a:t>Commercial and administrative opex: $365.0 million</a:t>
            </a:r>
          </a:p>
          <a:p xmlns:a="http://schemas.openxmlformats.org/drawingml/2006/main">
            <a:r>
              <a:rPr lang="en-US"/>
              <a:t>Q2 ending headcount: 5060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6.0: 256 INT8 TOPS</a:t>
            </a:r>
          </a:p>
          <a:p xmlns:a="http://schemas.openxmlformats.org/drawingml/2006/main">
            <a:r>
              <a:rPr lang="en-US"/>
              <a:t>GulfSwitch 6.0: 100 V maximum rated input</a:t>
            </a:r>
          </a:p>
          <a:p xmlns:a="http://schemas.openxmlformats.org/drawingml/2006/main">
            <a:r>
              <a:rPr lang="en-US"/>
              <a:t>Target release date: 2025-08-15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working-capital exposure from accelerated production commitments</a:t>
            </a:r>
          </a:p>
          <a:p xmlns:a="http://schemas.openxmlformats.org/drawingml/2006/main">
            <a:r>
              <a:rPr lang="en-US"/>
              <a:t>Mitigation: stage capacity commitments against qualification and accepted schedules</a:t>
            </a:r>
          </a:p>
          <a:p xmlns:a="http://schemas.openxmlformats.org/drawingml/2006/main">
            <a:r>
              <a:rPr lang="en-US"/>
              <a:t>protect delivery reliability and operating discipline while scaling profitable demand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4c0b9f6184b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78448c8f244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c8f40c9664b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1de31301448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f142d7ce5453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838533bf20b499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b2dd9812b47af" /><Relationship Type="http://schemas.openxmlformats.org/officeDocument/2006/relationships/notesSlide" Target="/ppt/notesSlides/notesSlide1.xml" Id="Rb2dab2730b2443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5fc5d904b44ee" /><Relationship Type="http://schemas.openxmlformats.org/officeDocument/2006/relationships/notesSlide" Target="/ppt/notesSlides/notesSlide2.xml" Id="Rfa9890321ecc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8d41fc5fa49a3" /><Relationship Type="http://schemas.openxmlformats.org/officeDocument/2006/relationships/notesSlide" Target="/ppt/notesSlides/notesSlide3.xml" Id="Ra8faf7ac40bf48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ab4002a184d88" /><Relationship Type="http://schemas.openxmlformats.org/officeDocument/2006/relationships/notesSlide" Target="/ppt/notesSlides/notesSlide4.xml" Id="R3fedd7040bb840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9f82be58048dc" /><Relationship Type="http://schemas.openxmlformats.org/officeDocument/2006/relationships/notesSlide" Target="/ppt/notesSlides/notesSlide5.xml" Id="Ree163eb7854d42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f082f8c44aa7" /><Relationship Type="http://schemas.openxmlformats.org/officeDocument/2006/relationships/notesSlide" Target="/ppt/notesSlides/notesSlide6.xml" Id="R80bad89ce1664f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b43059624603" /><Relationship Type="http://schemas.openxmlformats.org/officeDocument/2006/relationships/notesSlide" Target="/ppt/notesSlides/notesSlide7.xml" Id="R1436623fda73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b0cc5e65470d" /><Relationship Type="http://schemas.openxmlformats.org/officeDocument/2006/relationships/notesSlide" Target="/ppt/notesSlides/notesSlide8.xml" Id="Ra2ed2ebf53224b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31c5d33bd4e84" /><Relationship Type="http://schemas.openxmlformats.org/officeDocument/2006/relationships/notesSlide" Target="/ppt/notesSlides/notesSlide9.xml" Id="R1b7405a0d1a0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99d90dcc4457" /><Relationship Type="http://schemas.openxmlformats.org/officeDocument/2006/relationships/notesSlide" Target="/ppt/notesSlides/notesSlide10.xml" Id="Rb54bbf041ac046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- 2025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Profitable scale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$4600.0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$2168.9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$1904.4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$1216.7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$2168.9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5422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9853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7564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$3703.0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$1587.0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183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$1237.9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$476.1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$190.4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$851.7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$365.0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5060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6.0: 256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6.0: 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working-capital exposure from accelerated production commitments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stage capacity commitments against qualification and accepted schedules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protect delivery reliability and operating discipline while scaling profitable demand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2026-10-15T17:16:00.0000000Z</dcterms:created>
  <lastModifiedBy>OfficeCLI</lastModifiedBy>
  <dcterms:modified xsi:type="dcterms:W3CDTF">2026-10-15T17:16:01.6109046Z</dcterms:modified>
  <dc:title>SunnySemi LLC - 2025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2026-10-15T17:16:02Z</vt:lpwstr>
  </op:property>
</op:Properties>
</file>