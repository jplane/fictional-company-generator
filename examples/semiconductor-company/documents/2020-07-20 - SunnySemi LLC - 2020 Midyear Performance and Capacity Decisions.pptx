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77d99e9edd4e37" /><Relationship Type="http://schemas.openxmlformats.org/package/2006/relationships/metadata/core-properties" Target="/docProps/core.xml" Id="R7cf995d698a6499e" /><Relationship Type="http://schemas.openxmlformats.org/officeDocument/2006/relationships/extended-properties" Target="/docProps/app.xml" Id="R7006685b2c1a4a5e" /><Relationship Type="http://schemas.openxmlformats.org/officeDocument/2006/relationships/custom-properties" Target="/docProps/custom.xml" Id="R7a324e3c776540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a578e8174ff42b5"/>
  </p:notesMasterIdLst>
  <p:sldIdLst>
    <p:sldId id="256" r:id="Rd7abfc1f601b46c4"/>
    <p:sldId id="257" r:id="R668d4a0ffa54471c"/>
    <p:sldId id="258" r:id="R5fd42cd555c34fbc"/>
    <p:sldId id="259" r:id="R9f0f9320ce984696"/>
    <p:sldId id="260" r:id="R08172679054842db"/>
    <p:sldId id="261" r:id="R543b71a880604711"/>
    <p:sldId id="262" r:id="R98528967adb14b59"/>
    <p:sldId id="263" r:id="Rbfcb517fa99d46d6"/>
    <p:sldId id="264" r:id="Rfdba5bdb396f4f9e"/>
    <p:sldId id="265" r:id="Rcdc7806c833e4472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7abfc1f601b46c4" /><Relationship Type="http://schemas.openxmlformats.org/officeDocument/2006/relationships/notesMaster" Target="/ppt/notesMasters/notesMaster1.xml" Id="Rea578e8174ff42b5" /><Relationship Type="http://schemas.openxmlformats.org/officeDocument/2006/relationships/slide" Target="/ppt/slides/slide2.xml" Id="R668d4a0ffa54471c" /><Relationship Type="http://schemas.openxmlformats.org/officeDocument/2006/relationships/slide" Target="/ppt/slides/slide3.xml" Id="R5fd42cd555c34fbc" /><Relationship Type="http://schemas.openxmlformats.org/officeDocument/2006/relationships/slide" Target="/ppt/slides/slide4.xml" Id="R9f0f9320ce984696" /><Relationship Type="http://schemas.openxmlformats.org/officeDocument/2006/relationships/slide" Target="/ppt/slides/slide5.xml" Id="R08172679054842db" /><Relationship Type="http://schemas.openxmlformats.org/officeDocument/2006/relationships/slide" Target="/ppt/slides/slide6.xml" Id="R543b71a880604711" /><Relationship Type="http://schemas.openxmlformats.org/officeDocument/2006/relationships/slide" Target="/ppt/slides/slide7.xml" Id="R98528967adb14b59" /><Relationship Type="http://schemas.openxmlformats.org/officeDocument/2006/relationships/slide" Target="/ppt/slides/slide8.xml" Id="Rbfcb517fa99d46d6" /><Relationship Type="http://schemas.openxmlformats.org/officeDocument/2006/relationships/slide" Target="/ppt/slides/slide9.xml" Id="Rfdba5bdb396f4f9e" /><Relationship Type="http://schemas.openxmlformats.org/officeDocument/2006/relationships/slide" Target="/ppt/slides/slide10.xml" Id="Rcdc7806c833e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ad8afec29b439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c1528b4f764fcc" /><Relationship Type="http://schemas.openxmlformats.org/officeDocument/2006/relationships/slide" Target="/ppt/slides/slide1.xml" Id="R72750bc160a44b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4946dd583dd4f02" /><Relationship Type="http://schemas.openxmlformats.org/officeDocument/2006/relationships/slide" Target="/ppt/slides/slide2.xml" Id="R5c25b6ff0c63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be4ae67dc2a4b53" /><Relationship Type="http://schemas.openxmlformats.org/officeDocument/2006/relationships/slide" Target="/ppt/slides/slide3.xml" Id="R9af53c3612ea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8b41d7ab4d4f27" /><Relationship Type="http://schemas.openxmlformats.org/officeDocument/2006/relationships/slide" Target="/ppt/slides/slide4.xml" Id="R914e93610287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70c68dff334430f" /><Relationship Type="http://schemas.openxmlformats.org/officeDocument/2006/relationships/slide" Target="/ppt/slides/slide5.xml" Id="R04bff51a928643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0e4e785fe44202" /><Relationship Type="http://schemas.openxmlformats.org/officeDocument/2006/relationships/slide" Target="/ppt/slides/slide6.xml" Id="R1ae72aaad24a46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7fd92763334bf7" /><Relationship Type="http://schemas.openxmlformats.org/officeDocument/2006/relationships/slide" Target="/ppt/slides/slide7.xml" Id="Rac76e7841b9b40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9ddba097ad40d9" /><Relationship Type="http://schemas.openxmlformats.org/officeDocument/2006/relationships/slide" Target="/ppt/slides/slide8.xml" Id="R5443fa406bbd49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de878f43aa4b10" /><Relationship Type="http://schemas.openxmlformats.org/officeDocument/2006/relationships/slide" Target="/ppt/slides/slide9.xml" Id="R1c2faa9e073745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2c6ca2997934713" /><Relationship Type="http://schemas.openxmlformats.org/officeDocument/2006/relationships/slide" Target="/ppt/slides/slide10.xml" Id="R33b93a2bc7cd4b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Launch discipline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$240.0 million</a:t>
            </a:r>
          </a:p>
          <a:p xmlns:a="http://schemas.openxmlformats.org/drawingml/2006/main">
            <a:r>
              <a:rPr lang="en-US"/>
              <a:t>Q2 revenue: $276.0 million</a:t>
            </a:r>
          </a:p>
          <a:p xmlns:a="http://schemas.openxmlformats.org/drawingml/2006/main">
            <a:r>
              <a:rPr lang="en-US"/>
              <a:t>Q2 operating income: $71.8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$276.0 million</a:t>
            </a:r>
          </a:p>
          <a:p xmlns:a="http://schemas.openxmlformats.org/drawingml/2006/main">
            <a:r>
              <a:rPr lang="en-US"/>
              <a:t>Less COGS $127.0 million</a:t>
            </a:r>
          </a:p>
          <a:p xmlns:a="http://schemas.openxmlformats.org/drawingml/2006/main">
            <a:r>
              <a:rPr lang="en-US"/>
              <a:t>Less operating expense $77.3 million</a:t>
            </a:r>
          </a:p>
          <a:p xmlns:a="http://schemas.openxmlformats.org/drawingml/2006/main">
            <a:r>
              <a:rPr lang="en-US"/>
              <a:t>Operating income $71.8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$165.6 million</a:t>
            </a:r>
          </a:p>
          <a:p xmlns:a="http://schemas.openxmlformats.org/drawingml/2006/main">
            <a:r>
              <a:rPr lang="en-US"/>
              <a:t>GulfSwitch recognized revenue: $110.4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$82.5 million</a:t>
            </a:r>
          </a:p>
          <a:p xmlns:a="http://schemas.openxmlformats.org/drawingml/2006/main">
            <a:r>
              <a:rPr lang="en-US"/>
              <a:t>Package and test $31.7 million</a:t>
            </a:r>
          </a:p>
          <a:p xmlns:a="http://schemas.openxmlformats.org/drawingml/2006/main">
            <a:r>
              <a:rPr lang="en-US"/>
              <a:t>Logistics $12.7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$54.1 million</a:t>
            </a:r>
          </a:p>
          <a:p xmlns:a="http://schemas.openxmlformats.org/drawingml/2006/main">
            <a:r>
              <a:rPr lang="en-US"/>
              <a:t>Commercial and administrative opex: $23.2 million</a:t>
            </a:r>
          </a:p>
          <a:p xmlns:a="http://schemas.openxmlformats.org/drawingml/2006/main">
            <a:r>
              <a:rPr lang="en-US"/>
              <a:t>Q2 ending headcount: 580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1.0: 12 INT8 TOPS</a:t>
            </a:r>
          </a:p>
          <a:p xmlns:a="http://schemas.openxmlformats.org/drawingml/2006/main">
            <a:r>
              <a:rPr lang="en-US"/>
              <a:t>GulfSwitch 1.0: 48 V maximum rated input</a:t>
            </a:r>
          </a:p>
          <a:p xmlns:a="http://schemas.openxmlformats.org/drawingml/2006/main">
            <a:r>
              <a:rPr lang="en-US"/>
              <a:t>Target release date: 2020-08-15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a single qualified substrate route</a:t>
            </a:r>
          </a:p>
          <a:p xmlns:a="http://schemas.openxmlformats.org/drawingml/2006/main">
            <a:r>
              <a:rPr lang="en-US"/>
              <a:t>Mitigation: qualify a second substrate route before increasing release allocations</a:t>
            </a:r>
          </a:p>
          <a:p xmlns:a="http://schemas.openxmlformats.org/drawingml/2006/main">
            <a:r>
              <a:rPr lang="en-US"/>
              <a:t>keep first-customer bring-up separate from the production release gate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announced,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6d993e1e649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36eecbe9b4e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793aa073d42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968a7dbbf4f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b9cf619db47f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94a3fd22eff49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907aae6d4f6f" /><Relationship Type="http://schemas.openxmlformats.org/officeDocument/2006/relationships/notesSlide" Target="/ppt/notesSlides/notesSlide1.xml" Id="Re64062f2d61f42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fa9a3c274272" /><Relationship Type="http://schemas.openxmlformats.org/officeDocument/2006/relationships/notesSlide" Target="/ppt/notesSlides/notesSlide2.xml" Id="R2c55d6ff375f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a81e5ac9a4142" /><Relationship Type="http://schemas.openxmlformats.org/officeDocument/2006/relationships/notesSlide" Target="/ppt/notesSlides/notesSlide3.xml" Id="Rbca449e46b12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d47f914a548a2" /><Relationship Type="http://schemas.openxmlformats.org/officeDocument/2006/relationships/notesSlide" Target="/ppt/notesSlides/notesSlide4.xml" Id="R94199c42053f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9c5a696ef4739" /><Relationship Type="http://schemas.openxmlformats.org/officeDocument/2006/relationships/notesSlide" Target="/ppt/notesSlides/notesSlide5.xml" Id="R6451247ebf0045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ced28d7b4bfe" /><Relationship Type="http://schemas.openxmlformats.org/officeDocument/2006/relationships/notesSlide" Target="/ppt/notesSlides/notesSlide6.xml" Id="R99ee658b4acf49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3222119b9466f" /><Relationship Type="http://schemas.openxmlformats.org/officeDocument/2006/relationships/notesSlide" Target="/ppt/notesSlides/notesSlide7.xml" Id="R1230ecbb7436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fadf818e24b94" /><Relationship Type="http://schemas.openxmlformats.org/officeDocument/2006/relationships/notesSlide" Target="/ppt/notesSlides/notesSlide8.xml" Id="Rf3c959034d9c42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54d7e28dc4e5d" /><Relationship Type="http://schemas.openxmlformats.org/officeDocument/2006/relationships/notesSlide" Target="/ppt/notesSlides/notesSlide9.xml" Id="R68ee2af78cb546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18a53cb2f4778" /><Relationship Type="http://schemas.openxmlformats.org/officeDocument/2006/relationships/notesSlide" Target="/ppt/notesSlides/notesSlide10.xml" Id="Rb7b202471771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- 2020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 discipline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$240.0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$276.0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$71.8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$276.0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$127.0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$77.3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$71.8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9706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11995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1138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$165.6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$110.4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285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$82.5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$31.7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$12.7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$54.1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$23.2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580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1.0: 12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1.0: 48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2020-08-15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a single qualified substrate route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qualify a second substrate route before increasing release allocations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first-customer bring-up separate from the production release gate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announced,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2020-07-20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2026-10-15T17:18:06.0000000Z</dcterms:created>
  <lastModifiedBy>OfficeCLI</lastModifiedBy>
  <dcterms:modified xsi:type="dcterms:W3CDTF">2026-10-15T17:18:07.7253528Z</dcterms:modified>
  <dc:title>SunnySemi LLC - 2020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2026-10-15T17:18:08Z</vt:lpwstr>
  </op:property>
</op:Properties>
</file>