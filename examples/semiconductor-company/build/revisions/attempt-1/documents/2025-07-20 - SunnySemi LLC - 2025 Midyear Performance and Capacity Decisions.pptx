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947f3cd79a94c69" /><Relationship Type="http://schemas.openxmlformats.org/package/2006/relationships/metadata/core-properties" Target="/docProps/core.xml" Id="R3d913cbc7d5f4cfe" /><Relationship Type="http://schemas.openxmlformats.org/officeDocument/2006/relationships/extended-properties" Target="/docProps/app.xml" Id="R70c3a0b8b38c4ebb" /><Relationship Type="http://schemas.openxmlformats.org/officeDocument/2006/relationships/custom-properties" Target="/docProps/custom.xml" Id="Rcf77a8df6fea4ab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79c33320b2b47cb"/>
  </p:notesMasterIdLst>
  <p:sldIdLst>
    <p:sldId id="256" r:id="R1ee2c9e9c84349c2"/>
    <p:sldId id="257" r:id="Rce6168d179aa4998"/>
    <p:sldId id="258" r:id="R99063ceab65041a4"/>
    <p:sldId id="259" r:id="R3e959eecabf1422a"/>
    <p:sldId id="260" r:id="R95adf714897b43dc"/>
    <p:sldId id="261" r:id="R1eaec1c240b3404a"/>
    <p:sldId id="262" r:id="R3e0381838f744a79"/>
    <p:sldId id="263" r:id="R5dd461be77c4409d"/>
    <p:sldId id="264" r:id="Rcede5ada78d44bb3"/>
    <p:sldId id="265" r:id="R5a20f541d6b448b2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1ee2c9e9c84349c2" /><Relationship Type="http://schemas.openxmlformats.org/officeDocument/2006/relationships/notesMaster" Target="/ppt/notesMasters/notesMaster1.xml" Id="R879c33320b2b47cb" /><Relationship Type="http://schemas.openxmlformats.org/officeDocument/2006/relationships/slide" Target="/ppt/slides/slide2.xml" Id="Rce6168d179aa4998" /><Relationship Type="http://schemas.openxmlformats.org/officeDocument/2006/relationships/slide" Target="/ppt/slides/slide3.xml" Id="R99063ceab65041a4" /><Relationship Type="http://schemas.openxmlformats.org/officeDocument/2006/relationships/slide" Target="/ppt/slides/slide4.xml" Id="R3e959eecabf1422a" /><Relationship Type="http://schemas.openxmlformats.org/officeDocument/2006/relationships/slide" Target="/ppt/slides/slide5.xml" Id="R95adf714897b43dc" /><Relationship Type="http://schemas.openxmlformats.org/officeDocument/2006/relationships/slide" Target="/ppt/slides/slide6.xml" Id="R1eaec1c240b3404a" /><Relationship Type="http://schemas.openxmlformats.org/officeDocument/2006/relationships/slide" Target="/ppt/slides/slide7.xml" Id="R3e0381838f744a79" /><Relationship Type="http://schemas.openxmlformats.org/officeDocument/2006/relationships/slide" Target="/ppt/slides/slide8.xml" Id="R5dd461be77c4409d" /><Relationship Type="http://schemas.openxmlformats.org/officeDocument/2006/relationships/slide" Target="/ppt/slides/slide9.xml" Id="Rcede5ada78d44bb3" /><Relationship Type="http://schemas.openxmlformats.org/officeDocument/2006/relationships/slide" Target="/ppt/slides/slide10.xml" Id="R5a20f541d6b448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6d8485b9cd349f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0f7e14a348a4f70" /><Relationship Type="http://schemas.openxmlformats.org/officeDocument/2006/relationships/slide" Target="/ppt/slides/slide1.xml" Id="R0ebb54a794ad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92fd2d1ca2640ea" /><Relationship Type="http://schemas.openxmlformats.org/officeDocument/2006/relationships/slide" Target="/ppt/slides/slide2.xml" Id="R1d342592acf14f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dab0fd06cc4968" /><Relationship Type="http://schemas.openxmlformats.org/officeDocument/2006/relationships/slide" Target="/ppt/slides/slide3.xml" Id="R3eedb272a3e84f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692e6ed14c43d7" /><Relationship Type="http://schemas.openxmlformats.org/officeDocument/2006/relationships/slide" Target="/ppt/slides/slide4.xml" Id="R017ebdbf6cba46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e29f71b297b4bef" /><Relationship Type="http://schemas.openxmlformats.org/officeDocument/2006/relationships/slide" Target="/ppt/slides/slide5.xml" Id="Rad3fa06cde144b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41f6cdecce84580" /><Relationship Type="http://schemas.openxmlformats.org/officeDocument/2006/relationships/slide" Target="/ppt/slides/slide6.xml" Id="R48ba870032b146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85ca6e814f4ad7" /><Relationship Type="http://schemas.openxmlformats.org/officeDocument/2006/relationships/slide" Target="/ppt/slides/slide7.xml" Id="Rcf2378fe674945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ff7a865f25e4c97" /><Relationship Type="http://schemas.openxmlformats.org/officeDocument/2006/relationships/slide" Target="/ppt/slides/slide8.xml" Id="Rfbe31543829d43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a04eae849844010" /><Relationship Type="http://schemas.openxmlformats.org/officeDocument/2006/relationships/slide" Target="/ppt/slides/slide9.xml" Id="R8591d9b7685d43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b6c417c3a64445c" /><Relationship Type="http://schemas.openxmlformats.org/officeDocument/2006/relationships/slide" Target="/ppt/slides/slide10.xml" Id="R56e9352daf9b45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Profitable scale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Avery Rowan, CEO</a:t>
            </a:r>
          </a:p>
          <a:p xmlns:a="http://schemas.openxmlformats.org/drawingml/2006/main">
            <a:r>
              <a:rPr lang="en-US"/>
              <a:t>Midyear actuals and a gated capacity decision; confidential board material.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Q1 revenue: $4600.0 million</a:t>
            </a:r>
          </a:p>
          <a:p xmlns:a="http://schemas.openxmlformats.org/drawingml/2006/main">
            <a:r>
              <a:rPr lang="en-US"/>
              <a:t>Q2 revenue: $5290.0 million</a:t>
            </a:r>
          </a:p>
          <a:p xmlns:a="http://schemas.openxmlformats.org/drawingml/2006/main">
            <a:r>
              <a:rPr lang="en-US"/>
              <a:t>Q2 operating income: $2168.9 million</a:t>
            </a:r>
          </a:p>
          <a:p xmlns:a="http://schemas.openxmlformats.org/drawingml/2006/main">
            <a:r>
              <a:rPr lang="en-US"/>
              <a:t>Revenue and operating income are actuals, not bookings or cash flow.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Revenue $5290.0 million</a:t>
            </a:r>
          </a:p>
          <a:p xmlns:a="http://schemas.openxmlformats.org/drawingml/2006/main">
            <a:r>
              <a:rPr lang="en-US"/>
              <a:t>Less COGS $1904.4 million</a:t>
            </a:r>
          </a:p>
          <a:p xmlns:a="http://schemas.openxmlformats.org/drawingml/2006/main">
            <a:r>
              <a:rPr lang="en-US"/>
              <a:t>Less operating expense $1216.7 million</a:t>
            </a:r>
          </a:p>
          <a:p xmlns:a="http://schemas.openxmlformats.org/drawingml/2006/main">
            <a:r>
              <a:rPr lang="en-US"/>
              <a:t>Operating income $2168.9 million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recognized revenue: $3703.0 million</a:t>
            </a:r>
          </a:p>
          <a:p xmlns:a="http://schemas.openxmlformats.org/drawingml/2006/main">
            <a:r>
              <a:rPr lang="en-US"/>
              <a:t>GulfSwitch recognized revenue: $1587.0 million</a:t>
            </a:r>
          </a:p>
          <a:p xmlns:a="http://schemas.openxmlformats.org/drawingml/2006/main">
            <a:r>
              <a:rPr lang="en-US"/>
              <a:t>Own differentiated silicon architecture and application validation; use external manufacturing rather than build a wafer fab.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Wafer cost $1237.9 million</a:t>
            </a:r>
          </a:p>
          <a:p xmlns:a="http://schemas.openxmlformats.org/drawingml/2006/main">
            <a:r>
              <a:rPr lang="en-US"/>
              <a:t>Package and test $476.1 million</a:t>
            </a:r>
          </a:p>
          <a:p xmlns:a="http://schemas.openxmlformats.org/drawingml/2006/main">
            <a:r>
              <a:rPr lang="en-US"/>
              <a:t>Logistics $190.4 million</a:t>
            </a:r>
          </a:p>
          <a:p xmlns:a="http://schemas.openxmlformats.org/drawingml/2006/main">
            <a:r>
              <a:rPr lang="en-US"/>
              <a:t>These components reconcile to reported COGS.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Engineering opex: $851.7 million</a:t>
            </a:r>
          </a:p>
          <a:p xmlns:a="http://schemas.openxmlformats.org/drawingml/2006/main">
            <a:r>
              <a:rPr lang="en-US"/>
              <a:t>Commercial and administrative opex: $365.0 million</a:t>
            </a:r>
          </a:p>
          <a:p xmlns:a="http://schemas.openxmlformats.org/drawingml/2006/main">
            <a:r>
              <a:rPr lang="en-US"/>
              <a:t>Q2 ending headcount: 5060</a:t>
            </a:r>
          </a:p>
          <a:p xmlns:a="http://schemas.openxmlformats.org/drawingml/2006/main">
            <a:r>
              <a:rPr lang="en-US"/>
              <a:t>Quinn Mercer owns customer qualification; Riley Arden owns release evidence; the effective CFO owns capacity-commitment review.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SunCore 6.0: 256 INT8 TOPS</a:t>
            </a:r>
          </a:p>
          <a:p xmlns:a="http://schemas.openxmlformats.org/drawingml/2006/main">
            <a:r>
              <a:rPr lang="en-US"/>
              <a:t>GulfSwitch 6.0: 100 V maximum rated input</a:t>
            </a:r>
          </a:p>
          <a:p xmlns:a="http://schemas.openxmlformats.org/drawingml/2006/main">
            <a:r>
              <a:rPr lang="en-US"/>
              <a:t>Target release date: 2025-08-15</a:t>
            </a:r>
          </a:p>
          <a:p xmlns:a="http://schemas.openxmlformats.org/drawingml/2006/main">
            <a:r>
              <a:rPr lang="en-US"/>
              <a:t>Planned at this briefing date; completion is not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Risk: working-capital exposure from accelerated production commitments</a:t>
            </a:r>
          </a:p>
          <a:p xmlns:a="http://schemas.openxmlformats.org/drawingml/2006/main">
            <a:r>
              <a:rPr lang="en-US"/>
              <a:t>Mitigation: stage capacity commitments against qualification and accepted schedules</a:t>
            </a:r>
          </a:p>
          <a:p xmlns:a="http://schemas.openxmlformats.org/drawingml/2006/main">
            <a:r>
              <a:rPr lang="en-US"/>
              <a:t>protect delivery reliability and operating discipline while scaling profitable demand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Preferred: Stage commitments against qualification evidence.</a:t>
            </a:r>
          </a:p>
          <a:p xmlns:a="http://schemas.openxmlformats.org/drawingml/2006/main">
            <a:r>
              <a:rPr lang="en-US"/>
              <a:t>Alternative: Commit the entire proposed capacity increment immediately.</a:t>
            </a:r>
          </a:p>
          <a:p xmlns:a="http://schemas.openxmlformats.org/drawingml/2006/main">
            <a:r>
              <a:rPr lang="en-US"/>
              <a:t>Staging limits irreversible commitments but can defer some shipment opportunities.</a:t>
            </a:r>
          </a:p>
          <a:p xmlns:a="http://schemas.openxmlformats.org/drawingml/2006/main">
            <a:r>
              <a:rPr lang="en-US"/>
              <a:t>CoralKey Packaging: closed, $85.0 million.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r>
              <a:rPr lang="en-US"/>
              <a:t>Requested; no board approval is recorded in this briefing.</a:t>
            </a:r>
          </a:p>
          <a:p xmlns:a="http://schemas.openxmlformats.org/drawingml/2006/main">
            <a:r>
              <a:rPr lang="en-US"/>
              <a:t>No cash balance, debt balance, free-cash-flow measure or forecast is included.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8c2f6545cb4b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635efd6890402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981544a5842b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cdbe38130495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b98d3c2c34b59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bf325eddbee4e04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d961155c248d9" /><Relationship Type="http://schemas.openxmlformats.org/officeDocument/2006/relationships/notesSlide" Target="/ppt/notesSlides/notesSlide1.xml" Id="Rba6116d3dd7640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9c524f49a4245" /><Relationship Type="http://schemas.openxmlformats.org/officeDocument/2006/relationships/notesSlide" Target="/ppt/notesSlides/notesSlide2.xml" Id="R936a6a99773d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54bd32fc1488e" /><Relationship Type="http://schemas.openxmlformats.org/officeDocument/2006/relationships/notesSlide" Target="/ppt/notesSlides/notesSlide3.xml" Id="R18e535e4c64749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631fc52b046df" /><Relationship Type="http://schemas.openxmlformats.org/officeDocument/2006/relationships/notesSlide" Target="/ppt/notesSlides/notesSlide4.xml" Id="Re630b79e13704a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5022b38ec042fd" /><Relationship Type="http://schemas.openxmlformats.org/officeDocument/2006/relationships/notesSlide" Target="/ppt/notesSlides/notesSlide5.xml" Id="Rc557ebcdb86c41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7c12aa1cab4990" /><Relationship Type="http://schemas.openxmlformats.org/officeDocument/2006/relationships/notesSlide" Target="/ppt/notesSlides/notesSlide6.xml" Id="Re1423467c4ff43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c663e6dbd841fb" /><Relationship Type="http://schemas.openxmlformats.org/officeDocument/2006/relationships/notesSlide" Target="/ppt/notesSlides/notesSlide7.xml" Id="R00d57f2ad1fb41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c71d36cbe4944" /><Relationship Type="http://schemas.openxmlformats.org/officeDocument/2006/relationships/notesSlide" Target="/ppt/notesSlides/notesSlide8.xml" Id="R33fd717d904f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a20a78c3b047e2" /><Relationship Type="http://schemas.openxmlformats.org/officeDocument/2006/relationships/notesSlide" Target="/ppt/notesSlides/notesSlide9.xml" Id="Rcca0c697dd8f452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f2b89f6c64203" /><Relationship Type="http://schemas.openxmlformats.org/officeDocument/2006/relationships/notesSlide" Target="/ppt/notesSlides/notesSlide10.xml" Id="Re9decbf0fda54f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- 2025 Midyear Performance and Capacity Decisions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Profitable scale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Avery Rowan, CEO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Midyear actuals and a gated capacity decision; confidential board material.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Actual performance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 readiness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Capacity authority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BOARD CONFIDENTIAL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Recognized revenue and operating income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Q1 revenue: $4600.0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revenue: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operating income: $2168.9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and operating income are actuals, not bookings or cash flow.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Q1 revenue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236000" y="2628000"/>
            <a:ext cx="372521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4014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Q2 revenue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236000" y="4374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6012000"/>
            <a:ext cx="42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BOARD CONFIDENTIAL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9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20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Q2 operating-income bridge</a:t>
            </a:r>
          </a:p>
        </p:txBody>
      </p:sp>
      <p:sp>
        <p:nvSpPr>
          <p:cNvPr id="100021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Revenue $5290.0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COGS $1904.4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Less operating expense $1216.7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Operating income $2168.9 million</a:t>
            </a:r>
          </a:p>
        </p:txBody>
      </p:sp>
      <p:sp>
        <p:nvSpPr>
          <p:cNvPr id="100022" name="TextBox 4"/>
          <p:cNvSpPr/>
          <p:nvPr/>
        </p:nvSpPr>
        <p:spPr>
          <a:xfrm xmlns:a="http://schemas.openxmlformats.org/drawingml/2006/main">
            <a:off x="7236000" y="2268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Revenue</a:t>
            </a:r>
          </a:p>
        </p:txBody>
      </p:sp>
      <p:sp>
        <p:nvSpPr>
          <p:cNvPr id="100023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4" name="TextBox 6"/>
          <p:cNvSpPr/>
          <p:nvPr/>
        </p:nvSpPr>
        <p:spPr>
          <a:xfrm xmlns:a="http://schemas.openxmlformats.org/drawingml/2006/main">
            <a:off x="7236000" y="3141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COGS</a:t>
            </a:r>
          </a:p>
        </p:txBody>
      </p:sp>
      <p:sp>
        <p:nvSpPr>
          <p:cNvPr id="100025" name="TextBox 7"/>
          <p:cNvSpPr/>
          <p:nvPr/>
        </p:nvSpPr>
        <p:spPr>
          <a:xfrm xmlns:a="http://schemas.openxmlformats.org/drawingml/2006/main">
            <a:off x="7236000" y="3501000"/>
            <a:ext cx="15422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6" name="TextBox 8"/>
          <p:cNvSpPr/>
          <p:nvPr/>
        </p:nvSpPr>
        <p:spPr>
          <a:xfrm xmlns:a="http://schemas.openxmlformats.org/drawingml/2006/main">
            <a:off x="7236000" y="4014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Opex</a:t>
            </a:r>
          </a:p>
        </p:txBody>
      </p:sp>
      <p:sp>
        <p:nvSpPr>
          <p:cNvPr id="100027" name="TextBox 9"/>
          <p:cNvSpPr/>
          <p:nvPr/>
        </p:nvSpPr>
        <p:spPr>
          <a:xfrm xmlns:a="http://schemas.openxmlformats.org/drawingml/2006/main">
            <a:off x="7236000" y="4374000"/>
            <a:ext cx="98532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28" name="TextBox 10"/>
          <p:cNvSpPr/>
          <p:nvPr/>
        </p:nvSpPr>
        <p:spPr>
          <a:xfrm xmlns:a="http://schemas.openxmlformats.org/drawingml/2006/main">
            <a:off x="7236000" y="4887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Operating income</a:t>
            </a:r>
          </a:p>
        </p:txBody>
      </p:sp>
      <p:sp>
        <p:nvSpPr>
          <p:cNvPr id="100029" name="TextBox 11"/>
          <p:cNvSpPr/>
          <p:nvPr/>
        </p:nvSpPr>
        <p:spPr>
          <a:xfrm xmlns:a="http://schemas.openxmlformats.org/drawingml/2006/main">
            <a:off x="7236000" y="5247000"/>
            <a:ext cx="175644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0" name="TextBox 12"/>
          <p:cNvSpPr/>
          <p:nvPr/>
        </p:nvSpPr>
        <p:spPr>
          <a:xfrm xmlns:a="http://schemas.openxmlformats.org/drawingml/2006/main">
            <a:off x="7236000" y="6012000"/>
            <a:ext cx="42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31" name="TextBox 13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BOARD CONFIDENTIAL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2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3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Two silicon franchises fund the strategy</a:t>
            </a:r>
          </a:p>
        </p:txBody>
      </p:sp>
      <p:sp>
        <p:nvSpPr>
          <p:cNvPr id="10003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recognized revenue: $3703.0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recognized revenue: $1587.0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Own differentiated silicon architecture and application validation; use external manufacturing rather than build a wafer fab.</a:t>
            </a:r>
          </a:p>
        </p:txBody>
      </p:sp>
      <p:sp>
        <p:nvSpPr>
          <p:cNvPr id="100035" name="TextBox 4"/>
          <p:cNvSpPr/>
          <p:nvPr/>
        </p:nvSpPr>
        <p:spPr>
          <a:xfrm xmlns:a="http://schemas.openxmlformats.org/drawingml/2006/main">
            <a:off x="7236000" y="2268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SunCore</a:t>
            </a:r>
          </a:p>
        </p:txBody>
      </p:sp>
      <p:sp>
        <p:nvSpPr>
          <p:cNvPr id="100036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7" name="TextBox 6"/>
          <p:cNvSpPr/>
          <p:nvPr/>
        </p:nvSpPr>
        <p:spPr>
          <a:xfrm xmlns:a="http://schemas.openxmlformats.org/drawingml/2006/main">
            <a:off x="7236000" y="4014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GulfSwitch</a:t>
            </a:r>
          </a:p>
        </p:txBody>
      </p:sp>
      <p:sp>
        <p:nvSpPr>
          <p:cNvPr id="100038" name="TextBox 7"/>
          <p:cNvSpPr/>
          <p:nvPr/>
        </p:nvSpPr>
        <p:spPr>
          <a:xfrm xmlns:a="http://schemas.openxmlformats.org/drawingml/2006/main">
            <a:off x="7236000" y="4374000"/>
            <a:ext cx="1836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39" name="TextBox 8"/>
          <p:cNvSpPr/>
          <p:nvPr/>
        </p:nvSpPr>
        <p:spPr>
          <a:xfrm xmlns:a="http://schemas.openxmlformats.org/drawingml/2006/main">
            <a:off x="7236000" y="6012000"/>
            <a:ext cx="42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40" name="TextBox 9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BOARD CONFIDENTIAL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1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42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Manufacturing spend has distinct drivers</a:t>
            </a:r>
          </a:p>
        </p:txBody>
      </p:sp>
      <p:sp>
        <p:nvSpPr>
          <p:cNvPr id="100043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Wafer cost $1237.9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Package and test $476.1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Logistics $190.4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These components reconcile to reported COGS.</a:t>
            </a:r>
          </a:p>
        </p:txBody>
      </p:sp>
      <p:sp>
        <p:nvSpPr>
          <p:cNvPr id="100044" name="TextBox 4"/>
          <p:cNvSpPr/>
          <p:nvPr/>
        </p:nvSpPr>
        <p:spPr>
          <a:xfrm xmlns:a="http://schemas.openxmlformats.org/drawingml/2006/main">
            <a:off x="7236000" y="2268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Wafer</a:t>
            </a:r>
          </a:p>
        </p:txBody>
      </p:sp>
      <p:sp>
        <p:nvSpPr>
          <p:cNvPr id="100045" name="TextBox 5"/>
          <p:cNvSpPr/>
          <p:nvPr/>
        </p:nvSpPr>
        <p:spPr>
          <a:xfrm xmlns:a="http://schemas.openxmlformats.org/drawingml/2006/main">
            <a:off x="7236000" y="2628000"/>
            <a:ext cx="4284000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6" name="TextBox 6"/>
          <p:cNvSpPr/>
          <p:nvPr/>
        </p:nvSpPr>
        <p:spPr>
          <a:xfrm xmlns:a="http://schemas.openxmlformats.org/drawingml/2006/main">
            <a:off x="7236000" y="3432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Package/test</a:t>
            </a:r>
          </a:p>
        </p:txBody>
      </p:sp>
      <p:sp>
        <p:nvSpPr>
          <p:cNvPr id="100047" name="TextBox 7"/>
          <p:cNvSpPr/>
          <p:nvPr/>
        </p:nvSpPr>
        <p:spPr>
          <a:xfrm xmlns:a="http://schemas.openxmlformats.org/drawingml/2006/main">
            <a:off x="7236000" y="3792000"/>
            <a:ext cx="1647692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AB37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48" name="TextBox 8"/>
          <p:cNvSpPr/>
          <p:nvPr/>
        </p:nvSpPr>
        <p:spPr>
          <a:xfrm xmlns:a="http://schemas.openxmlformats.org/drawingml/2006/main">
            <a:off x="7236000" y="4596000"/>
            <a:ext cx="4284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400">
                <a:solidFill>
                  <a:srgbClr val="172F38"/>
                </a:solidFill>
                <a:latin typeface="Calibri"/>
                <a:ea typeface="Calibri"/>
              </a:rPr>
              <a:t>Logistics</a:t>
            </a:r>
          </a:p>
        </p:txBody>
      </p:sp>
      <p:sp>
        <p:nvSpPr>
          <p:cNvPr id="100049" name="TextBox 9"/>
          <p:cNvSpPr/>
          <p:nvPr/>
        </p:nvSpPr>
        <p:spPr>
          <a:xfrm xmlns:a="http://schemas.openxmlformats.org/drawingml/2006/main">
            <a:off x="7236000" y="4956000"/>
            <a:ext cx="659077" cy="2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endParaRPr lang="en-US" sz="2000">
              <a:solidFill>
                <a:srgbClr val="172F38"/>
              </a:solidFill>
              <a:latin typeface="Calibri"/>
              <a:ea typeface="Calibri"/>
            </a:endParaRPr>
          </a:p>
        </p:txBody>
      </p:sp>
      <p:sp>
        <p:nvSpPr>
          <p:cNvPr id="100050" name="TextBox 10"/>
          <p:cNvSpPr/>
          <p:nvPr/>
        </p:nvSpPr>
        <p:spPr>
          <a:xfrm xmlns:a="http://schemas.openxmlformats.org/drawingml/2006/main">
            <a:off x="7236000" y="6012000"/>
            <a:ext cx="4284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172F38"/>
                </a:solidFill>
                <a:latin typeface="Calibri"/>
                <a:ea typeface="Calibri"/>
              </a:rPr>
              <a:t>USD | common scale within this chart</a:t>
            </a:r>
          </a:p>
        </p:txBody>
      </p:sp>
      <p:sp>
        <p:nvSpPr>
          <p:cNvPr id="100051" name="TextBox 11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BOARD CONFIDENTIAL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2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5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Engineering investment and release accountability</a:t>
            </a:r>
          </a:p>
        </p:txBody>
      </p:sp>
      <p:sp>
        <p:nvSpPr>
          <p:cNvPr id="10005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opex: $851.7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Commercial and administrative opex: $365.0 million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Q2 ending headcount: 5060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Quinn Mercer owns customer qualification; Riley Arden owns release evidence; the effective CFO owns capacity-commitment review.</a:t>
            </a:r>
          </a:p>
        </p:txBody>
      </p:sp>
      <p:sp>
        <p:nvSpPr>
          <p:cNvPr id="10005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5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qualification</a:t>
            </a:r>
          </a:p>
        </p:txBody>
      </p:sp>
      <p:sp>
        <p:nvSpPr>
          <p:cNvPr id="10005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Finance sign-off</a:t>
            </a:r>
          </a:p>
        </p:txBody>
      </p:sp>
      <p:sp>
        <p:nvSpPr>
          <p:cNvPr id="100061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BOARD CONFIDENTIAL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2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6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August release gate is still ahead</a:t>
            </a:r>
          </a:p>
        </p:txBody>
      </p:sp>
      <p:sp>
        <p:nvSpPr>
          <p:cNvPr id="10006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SunCore 6.0: 256 INT8 TOPS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GulfSwitch 6.0: 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Target release date: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Planned at this briefing date; completion is not asserted.</a:t>
            </a:r>
          </a:p>
        </p:txBody>
      </p:sp>
      <p:sp>
        <p:nvSpPr>
          <p:cNvPr id="10006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Specification</a:t>
            </a:r>
          </a:p>
        </p:txBody>
      </p:sp>
      <p:sp>
        <p:nvSpPr>
          <p:cNvPr id="10006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Verification</a:t>
            </a:r>
          </a:p>
        </p:txBody>
      </p:sp>
      <p:sp>
        <p:nvSpPr>
          <p:cNvPr id="10006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release</a:t>
            </a:r>
          </a:p>
        </p:txBody>
      </p:sp>
      <p:sp>
        <p:nvSpPr>
          <p:cNvPr id="100071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BOARD CONFIDENTIAL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2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7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Concentrate controls on the binding risk</a:t>
            </a:r>
          </a:p>
        </p:txBody>
      </p:sp>
      <p:sp>
        <p:nvSpPr>
          <p:cNvPr id="10007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Risk: working-capital exposure from accelerated production commitments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Mitigation: stage capacity commitments against qualification and accepted schedules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protect delivery reliability and operating discipline while scaling profitable demand</a:t>
            </a:r>
          </a:p>
        </p:txBody>
      </p:sp>
      <p:sp>
        <p:nvSpPr>
          <p:cNvPr id="10007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Identify dependency</a:t>
            </a:r>
          </a:p>
        </p:txBody>
      </p:sp>
      <p:sp>
        <p:nvSpPr>
          <p:cNvPr id="100077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8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Retain evidence</a:t>
            </a:r>
          </a:p>
        </p:txBody>
      </p:sp>
      <p:sp>
        <p:nvSpPr>
          <p:cNvPr id="100079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0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Gate commitment</a:t>
            </a:r>
          </a:p>
        </p:txBody>
      </p:sp>
      <p:sp>
        <p:nvSpPr>
          <p:cNvPr id="100081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BOARD CONFIDENTIAL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82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83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Capacity options and transaction context</a:t>
            </a:r>
          </a:p>
        </p:txBody>
      </p:sp>
      <p:sp>
        <p:nvSpPr>
          <p:cNvPr id="100084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Preferred: Stage commitments against qualification evidence.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Alternative: Commit the entire proposed capacity increment immediately.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Staging limits irreversible commitments but can defer some shipment opportunities.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CoralKey Packaging: closed, $85.0 million.</a:t>
            </a:r>
          </a:p>
        </p:txBody>
      </p:sp>
      <p:sp>
        <p:nvSpPr>
          <p:cNvPr id="100085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6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Stage commitments</a:t>
            </a:r>
          </a:p>
        </p:txBody>
      </p:sp>
      <p:sp>
        <p:nvSpPr>
          <p:cNvPr id="100087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8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Commit immediately</a:t>
            </a:r>
          </a:p>
        </p:txBody>
      </p:sp>
      <p:sp>
        <p:nvSpPr>
          <p:cNvPr id="100089" name="TextBox 8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BOARD CONFIDENTIAL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90" name="TextBox 1"/>
          <p:cNvSpPr/>
          <p:nvPr/>
        </p:nvSpPr>
        <p:spPr>
          <a:xfrm xmlns:a="http://schemas.openxmlformats.org/drawingml/2006/main">
            <a:off x="504000" y="144000"/>
            <a:ext cx="104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2025-07-20</a:t>
            </a:r>
          </a:p>
        </p:txBody>
      </p:sp>
      <p:sp>
        <p:nvSpPr>
          <p:cNvPr id="10009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Decision requested and authority retained</a:t>
            </a:r>
          </a:p>
        </p:txBody>
      </p:sp>
      <p:sp>
        <p:nvSpPr>
          <p:cNvPr id="10009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Approve milestone-based capacity releases; retain existing commercial approval limits and require Finance and Engineering sign-off before each increment.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Requested; no board approval is recorded in this briefing.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No cash balance, debt balance, free-cash-flow measure or forecast is included.</a:t>
            </a:r>
          </a:p>
        </p:txBody>
      </p:sp>
      <p:sp>
        <p:nvSpPr>
          <p:cNvPr id="10009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Board direction</a:t>
            </a:r>
          </a:p>
        </p:txBody>
      </p:sp>
      <p:sp>
        <p:nvSpPr>
          <p:cNvPr id="10009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Engineering evidence</a:t>
            </a:r>
          </a:p>
        </p:txBody>
      </p:sp>
      <p:sp>
        <p:nvSpPr>
          <p:cNvPr id="10009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Finance release</a:t>
            </a:r>
          </a:p>
        </p:txBody>
      </p:sp>
      <p:sp>
        <p:nvSpPr>
          <p:cNvPr id="100099" name="TextBox 10"/>
          <p:cNvSpPr/>
          <p:nvPr/>
        </p:nvSpPr>
        <p:spPr>
          <a:xfrm xmlns:a="http://schemas.openxmlformats.org/drawingml/2006/main">
            <a:off x="504000" y="6444000"/>
            <a:ext cx="1108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BOARD CONFIDENTIAL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2026-10-15T16:46:11.0000000Z</dcterms:created>
  <lastModifiedBy>OfficeCLI</lastModifiedBy>
  <dcterms:modified xsi:type="dcterms:W3CDTF">2026-10-15T16:46:13.3644947Z</dcterms:modified>
  <dc:title>SunnySemi LLC - 2025 Midyear Performance and Capacity Decisions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2026-10-15T16:46:13Z</vt:lpwstr>
  </op:property>
</op:Properties>
</file>