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979497488214ba9" /><Relationship Type="http://schemas.openxmlformats.org/package/2006/relationships/metadata/core-properties" Target="/docProps/core.xml" Id="R6e94f130ef814e9e" /><Relationship Type="http://schemas.openxmlformats.org/officeDocument/2006/relationships/extended-properties" Target="/docProps/app.xml" Id="R6d967bd28a2d4af5" /><Relationship Type="http://schemas.openxmlformats.org/officeDocument/2006/relationships/custom-properties" Target="/docProps/custom.xml" Id="Rf08191ce30db428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2717a9482dc04fae"/>
  </p:notesMasterIdLst>
  <p:sldIdLst>
    <p:sldId id="256" r:id="R5fe28bf621464f29"/>
    <p:sldId id="257" r:id="R771517cb71db4bc8"/>
    <p:sldId id="258" r:id="R79db99e78db640dd"/>
    <p:sldId id="259" r:id="R20d28b611b984c49"/>
    <p:sldId id="260" r:id="R34d1e8735cdd4516"/>
    <p:sldId id="261" r:id="R1326533d07f84eb2"/>
    <p:sldId id="262" r:id="R2054483b915f49f0"/>
    <p:sldId id="263" r:id="Rf83e1521581d45fa"/>
    <p:sldId id="264" r:id="Ra9b07724409b48cf"/>
    <p:sldId id="265" r:id="R4231bc810e2a426a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fe28bf621464f29" /><Relationship Type="http://schemas.openxmlformats.org/officeDocument/2006/relationships/notesMaster" Target="/ppt/notesMasters/notesMaster1.xml" Id="R2717a9482dc04fae" /><Relationship Type="http://schemas.openxmlformats.org/officeDocument/2006/relationships/slide" Target="/ppt/slides/slide2.xml" Id="R771517cb71db4bc8" /><Relationship Type="http://schemas.openxmlformats.org/officeDocument/2006/relationships/slide" Target="/ppt/slides/slide3.xml" Id="R79db99e78db640dd" /><Relationship Type="http://schemas.openxmlformats.org/officeDocument/2006/relationships/slide" Target="/ppt/slides/slide4.xml" Id="R20d28b611b984c49" /><Relationship Type="http://schemas.openxmlformats.org/officeDocument/2006/relationships/slide" Target="/ppt/slides/slide5.xml" Id="R34d1e8735cdd4516" /><Relationship Type="http://schemas.openxmlformats.org/officeDocument/2006/relationships/slide" Target="/ppt/slides/slide6.xml" Id="R1326533d07f84eb2" /><Relationship Type="http://schemas.openxmlformats.org/officeDocument/2006/relationships/slide" Target="/ppt/slides/slide7.xml" Id="R2054483b915f49f0" /><Relationship Type="http://schemas.openxmlformats.org/officeDocument/2006/relationships/slide" Target="/ppt/slides/slide8.xml" Id="Rf83e1521581d45fa" /><Relationship Type="http://schemas.openxmlformats.org/officeDocument/2006/relationships/slide" Target="/ppt/slides/slide9.xml" Id="Ra9b07724409b48cf" /><Relationship Type="http://schemas.openxmlformats.org/officeDocument/2006/relationships/slide" Target="/ppt/slides/slide10.xml" Id="R4231bc810e2a42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84c7b833a3a4bf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e865f5d98474369" /><Relationship Type="http://schemas.openxmlformats.org/officeDocument/2006/relationships/slide" Target="/ppt/slides/slide1.xml" Id="Rd874d2178bff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53172323514d16" /><Relationship Type="http://schemas.openxmlformats.org/officeDocument/2006/relationships/slide" Target="/ppt/slides/slide2.xml" Id="Rdb3d74c182754f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e359843337a4830" /><Relationship Type="http://schemas.openxmlformats.org/officeDocument/2006/relationships/slide" Target="/ppt/slides/slide3.xml" Id="R48fdf9b3cd75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54cc114b48f4e72" /><Relationship Type="http://schemas.openxmlformats.org/officeDocument/2006/relationships/slide" Target="/ppt/slides/slide4.xml" Id="Rf50696da072c41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645575fa9914238" /><Relationship Type="http://schemas.openxmlformats.org/officeDocument/2006/relationships/slide" Target="/ppt/slides/slide5.xml" Id="R4309f91914414b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8d440f1bbe04c07" /><Relationship Type="http://schemas.openxmlformats.org/officeDocument/2006/relationships/slide" Target="/ppt/slides/slide6.xml" Id="R0cb9275d2a384a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a8aa31943d48c9" /><Relationship Type="http://schemas.openxmlformats.org/officeDocument/2006/relationships/slide" Target="/ppt/slides/slide7.xml" Id="R45291016cbdd40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d3f1c840a24329" /><Relationship Type="http://schemas.openxmlformats.org/officeDocument/2006/relationships/slide" Target="/ppt/slides/slide8.xml" Id="R1b41e238182943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2dd4e9500de4ba0" /><Relationship Type="http://schemas.openxmlformats.org/officeDocument/2006/relationships/slide" Target="/ppt/slides/slide9.xml" Id="R615a097b073b42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132db50ffa647d1" /><Relationship Type="http://schemas.openxmlformats.org/officeDocument/2006/relationships/slide" Target="/ppt/slides/slide10.xml" Id="Rc125d8fedb924d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Profitable scale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$4600.0 million</a:t>
            </a:r>
          </a:p>
          <a:p xmlns:a="http://schemas.openxmlformats.org/drawingml/2006/main">
            <a:r>
              <a:rPr lang="en-US"/>
              <a:t>Q2 revenue: $5290.0 million</a:t>
            </a:r>
          </a:p>
          <a:p xmlns:a="http://schemas.openxmlformats.org/drawingml/2006/main">
            <a:r>
              <a:rPr lang="en-US"/>
              <a:t>Q2 operating income: $2168.9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$5290.0 million</a:t>
            </a:r>
          </a:p>
          <a:p xmlns:a="http://schemas.openxmlformats.org/drawingml/2006/main">
            <a:r>
              <a:rPr lang="en-US"/>
              <a:t>Less COGS $1904.4 million</a:t>
            </a:r>
          </a:p>
          <a:p xmlns:a="http://schemas.openxmlformats.org/drawingml/2006/main">
            <a:r>
              <a:rPr lang="en-US"/>
              <a:t>Less operating expense $1216.7 million</a:t>
            </a:r>
          </a:p>
          <a:p xmlns:a="http://schemas.openxmlformats.org/drawingml/2006/main">
            <a:r>
              <a:rPr lang="en-US"/>
              <a:t>Operating income $2168.9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$3703.0 million</a:t>
            </a:r>
          </a:p>
          <a:p xmlns:a="http://schemas.openxmlformats.org/drawingml/2006/main">
            <a:r>
              <a:rPr lang="en-US"/>
              <a:t>GulfSwitch recognized revenue: $1587.0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$1237.9 million</a:t>
            </a:r>
          </a:p>
          <a:p xmlns:a="http://schemas.openxmlformats.org/drawingml/2006/main">
            <a:r>
              <a:rPr lang="en-US"/>
              <a:t>Package and test $476.1 million</a:t>
            </a:r>
          </a:p>
          <a:p xmlns:a="http://schemas.openxmlformats.org/drawingml/2006/main">
            <a:r>
              <a:rPr lang="en-US"/>
              <a:t>Logistics $190.4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$851.7 million</a:t>
            </a:r>
          </a:p>
          <a:p xmlns:a="http://schemas.openxmlformats.org/drawingml/2006/main">
            <a:r>
              <a:rPr lang="en-US"/>
              <a:t>Commercial and administrative opex: $365.0 million</a:t>
            </a:r>
          </a:p>
          <a:p xmlns:a="http://schemas.openxmlformats.org/drawingml/2006/main">
            <a:r>
              <a:rPr lang="en-US"/>
              <a:t>Q2 ending headcount: 5060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6.0: 256 INT8 TOPS</a:t>
            </a:r>
          </a:p>
          <a:p xmlns:a="http://schemas.openxmlformats.org/drawingml/2006/main">
            <a:r>
              <a:rPr lang="en-US"/>
              <a:t>GulfSwitch 6.0: 100 V maximum rated input</a:t>
            </a:r>
          </a:p>
          <a:p xmlns:a="http://schemas.openxmlformats.org/drawingml/2006/main">
            <a:r>
              <a:rPr lang="en-US"/>
              <a:t>Target release date: 2025-08-15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working-capital exposure from accelerated production commitments</a:t>
            </a:r>
          </a:p>
          <a:p xmlns:a="http://schemas.openxmlformats.org/drawingml/2006/main">
            <a:r>
              <a:rPr lang="en-US"/>
              <a:t>Mitigation: stage capacity commitments against qualification and accepted schedules</a:t>
            </a:r>
          </a:p>
          <a:p xmlns:a="http://schemas.openxmlformats.org/drawingml/2006/main">
            <a:r>
              <a:rPr lang="en-US"/>
              <a:t>protect delivery reliability and operating discipline while scaling profitable demand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cebadae064b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f078a33a348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fbd84a4cd49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fd774ee6a46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102bca7ef423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115cf075c72487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2caeed96247ca" /><Relationship Type="http://schemas.openxmlformats.org/officeDocument/2006/relationships/notesSlide" Target="/ppt/notesSlides/notesSlide1.xml" Id="Rde837aed13b8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b8273085b4b7d" /><Relationship Type="http://schemas.openxmlformats.org/officeDocument/2006/relationships/notesSlide" Target="/ppt/notesSlides/notesSlide2.xml" Id="R05c3235b224b47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2f94b11954288" /><Relationship Type="http://schemas.openxmlformats.org/officeDocument/2006/relationships/notesSlide" Target="/ppt/notesSlides/notesSlide3.xml" Id="R07f88ee9132941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cfdd92fd1480a" /><Relationship Type="http://schemas.openxmlformats.org/officeDocument/2006/relationships/notesSlide" Target="/ppt/notesSlides/notesSlide4.xml" Id="R22f66ab5e1964b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c8dac49b645dc" /><Relationship Type="http://schemas.openxmlformats.org/officeDocument/2006/relationships/notesSlide" Target="/ppt/notesSlides/notesSlide5.xml" Id="Rf77bc18079c042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99031c21c460a" /><Relationship Type="http://schemas.openxmlformats.org/officeDocument/2006/relationships/notesSlide" Target="/ppt/notesSlides/notesSlide6.xml" Id="R8c9664d114fa45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cfd3a46964bfd" /><Relationship Type="http://schemas.openxmlformats.org/officeDocument/2006/relationships/notesSlide" Target="/ppt/notesSlides/notesSlide7.xml" Id="Ra3c9275c3d194b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7559b655c4be3" /><Relationship Type="http://schemas.openxmlformats.org/officeDocument/2006/relationships/notesSlide" Target="/ppt/notesSlides/notesSlide8.xml" Id="Rc20f287eaf2642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efecf0d8542d0" /><Relationship Type="http://schemas.openxmlformats.org/officeDocument/2006/relationships/notesSlide" Target="/ppt/notesSlides/notesSlide9.xml" Id="Rd0d9420eb35a43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d01596f946b4" /><Relationship Type="http://schemas.openxmlformats.org/officeDocument/2006/relationships/notesSlide" Target="/ppt/notesSlides/notesSlide10.xml" Id="R6c221cd2412b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- 2025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Profitable scale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$4600.0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$5290.0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$2168.9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$5290.0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$1904.4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$1216.7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$2168.9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5422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98532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7564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$3703.0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$1587.0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1836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$1237.9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$476.1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$190.4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$851.7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$365.0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5060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6.0: 256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6.0: 100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working-capital exposure from accelerated production commitments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stage capacity commitments against qualification and accepted schedules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protect delivery reliability and operating discipline while scaling profitable demand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2026-10-15T17:11:51.0000000Z</dcterms:created>
  <lastModifiedBy>OfficeCLI</lastModifiedBy>
  <dcterms:modified xsi:type="dcterms:W3CDTF">2026-10-15T17:11:53.8013115Z</dcterms:modified>
  <dc:title>SunnySemi LLC - 2025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2026-10-15T17:11:54Z</vt:lpwstr>
  </op:property>
</op:Properties>
</file>