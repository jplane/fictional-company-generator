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Sealed Volatile-Handling Trials
Defined ground evidence before the next mission decision.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Changing inputs and configurations make results difficult to compare.
Current development risk: sample contamination.
Ground recovery does not prove in-space storage feasibility.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Record every custody handoff and chamber condition with the recovered sample.
Scope: Controlled ground-test use.
Accepted evidence and unresolved dependencies stay separate.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Containment: The test cartridge shall remain closed throughout the collection sequence.
Pressure envelope: The chamber controller shall inhibit a sequence outside the approved pressure envelope.
Thermal limit: The heater controller shall stop heating when the configured temperature limit is reached.
Power interlock: Actuator power shall require an independent enabled interlock.
Emergency stop: An emergency-stop request shall supersede an active extraction command.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Sample custody: Every sample container shall carry a unique identifier linked to its run.
Blank control: Each material campaign shall include an empty-cartridge blank run.
Mass accounting: The run record shall include input, recovered, retained, and unaccounted mass.
Time synchronization: Controller and instrument events shall share a synchronized run clock.
Telemetry continuity: The controller shall flag any telemetry gap longer than two seconds.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Configuration control: The run header shall record controller, cartridge, and sensor revisions.
Calibration freshness: Mass and temperature measurements shall use current approved calibrations.
Recovery restart: Restart after an abort shall require a new pre-run checklist.
Data export: Exported run data shall include units, channel names, and quality flags.
Operator authority: Only an authorized operator shall acknowledge a safety hold.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Register configuration and inputs
Run approved reference checks
Execute bounded campaign
Review evidence and discrepancies
Accept or hold the next configuration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Mission trade study: Compare candidate operating assumptions without asserting resource recoverability.
Payload verification campaign: Link a controlled test sequence to acceptance evidence and configuration identity.
Readiness review: Identify open discrepancies and distinguish accepted evidence from unresolved dependencies.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approved input or test-material specification
named technical reviewer
configuration-controlled reference case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Ground recovery does not prove in-space storage feasibility.
Not in scope: Flight qualification, asteroid resource certification, commercial mining, or mission approval.
A ground-development release is not flight qualification.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Available to contracted engineering teams through a scoped technical review.
Request a technical review through media@astrodig.example; define the reference case and acceptance evidence before campaign access.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824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EB8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ASTRODIG LLC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1024128"/>
            <a:ext cx="109728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AstroDig LLC - RegolithWorks 10.0 - Ground Campaign Overview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94360" y="635508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BCC6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2022-08-15 | Internal |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3154680"/>
            <a:ext cx="74980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Sealed Volatile-Handling Trials</a:t>
            </a:r>
            <a:endParaRPr lang="en-US" sz="2400" dirty="0"/>
          </a:p>
          <a:p>
            <a:pPr indent="0" marL="0">
              <a:buNone/>
            </a:pPr>
            <a:endParaRPr lang="en-US" sz="2400" dirty="0"/>
          </a:p>
          <a:p>
            <a:pPr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Defined ground evidence before the next mission decision.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9281160" y="3200400"/>
            <a:ext cx="1920240" cy="1920240"/>
          </a:xfrm>
          <a:prstGeom prst="ellipse">
            <a:avLst/>
          </a:prstGeom>
          <a:solidFill>
            <a:srgbClr val="18242D"/>
          </a:solidFill>
          <a:ln w="50800">
            <a:solidFill>
              <a:srgbClr val="B5683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418320" y="3877056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EB8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 DEVELOPMENT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F0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ASTRODIG LLC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82296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824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decision problem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94360" y="635508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361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2022-08-15 | Internal | 2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94360" y="2057400"/>
            <a:ext cx="3425952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2C7B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95528" y="2258568"/>
            <a:ext cx="30236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795528" y="3063240"/>
            <a:ext cx="3023616" cy="2157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Changing inputs and configurations make results difficult to compare.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4367784" y="2057400"/>
            <a:ext cx="3425952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2C7B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68952" y="2258568"/>
            <a:ext cx="30236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4568952" y="3063240"/>
            <a:ext cx="3023616" cy="2157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development risk: sample contamination.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8141208" y="2057400"/>
            <a:ext cx="3425952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2C7B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342376" y="2258568"/>
            <a:ext cx="30236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8342376" y="3063240"/>
            <a:ext cx="3023616" cy="2157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 recovery does not prove in-space storage feasibility.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F0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ASTRODIG LLC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82296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824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 controlled campaign boundary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94360" y="635508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361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2022-08-15 | Internal | 3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94360" y="1920240"/>
            <a:ext cx="128016" cy="3776472"/>
          </a:xfrm>
          <a:prstGeom prst="rect">
            <a:avLst/>
          </a:prstGeom>
          <a:solidFill>
            <a:srgbClr val="B5683A"/>
          </a:solidFill>
          <a:ln w="12700">
            <a:solidFill>
              <a:srgbClr val="B568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24128" y="1965960"/>
            <a:ext cx="992124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every custody handoff and chamber condition with the recovered sample.</a:t>
            </a:r>
            <a:endParaRPr lang="en-US" sz="2300" dirty="0"/>
          </a:p>
          <a:p>
            <a:pPr indent="0" marL="0">
              <a:buNone/>
            </a:pPr>
            <a:endParaRPr lang="en-US" sz="2300" dirty="0"/>
          </a:p>
          <a:p>
            <a:pPr indent="0" marL="0">
              <a:buNone/>
            </a:pPr>
            <a:r>
              <a:rPr lang="en-US" sz="23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Scope: Controlled ground-test use.</a:t>
            </a:r>
            <a:endParaRPr lang="en-US" sz="2300" dirty="0"/>
          </a:p>
          <a:p>
            <a:pPr indent="0" marL="0">
              <a:buNone/>
            </a:pPr>
            <a:endParaRPr lang="en-US" sz="2300" dirty="0"/>
          </a:p>
          <a:p>
            <a:pPr indent="0" marL="0">
              <a:buNone/>
            </a:pPr>
            <a:r>
              <a:rPr lang="en-US" sz="23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Accepted evidence and unresolved dependencies stay separate.</a:t>
            </a:r>
            <a:endParaRPr lang="en-US" sz="2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F0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ASTRODIG LLC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82296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824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Containment and safe control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94360" y="635508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361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2022-08-15 | Internal | 4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94360" y="1920240"/>
            <a:ext cx="566928" cy="643738"/>
          </a:xfrm>
          <a:prstGeom prst="rect">
            <a:avLst/>
          </a:prstGeom>
          <a:solidFill>
            <a:srgbClr val="B5683A"/>
          </a:solidFill>
          <a:ln w="12700">
            <a:solidFill>
              <a:srgbClr val="B568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30936" y="2066544"/>
            <a:ext cx="4937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463040" y="1965960"/>
            <a:ext cx="9555480" cy="6071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Containment: The test cartridge shall remain closed throughout the collection sequence.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594360" y="2765146"/>
            <a:ext cx="566928" cy="643738"/>
          </a:xfrm>
          <a:prstGeom prst="rect">
            <a:avLst/>
          </a:prstGeom>
          <a:solidFill>
            <a:srgbClr val="B5683A"/>
          </a:solidFill>
          <a:ln w="12700">
            <a:solidFill>
              <a:srgbClr val="B5683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30936" y="2911450"/>
            <a:ext cx="4937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463040" y="2810866"/>
            <a:ext cx="9555480" cy="6071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Pressure envelope: The chamber controller shall inhibit a sequence outside the approved pressure envelope.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594360" y="3610051"/>
            <a:ext cx="566928" cy="643738"/>
          </a:xfrm>
          <a:prstGeom prst="rect">
            <a:avLst/>
          </a:prstGeom>
          <a:solidFill>
            <a:srgbClr val="B5683A"/>
          </a:solidFill>
          <a:ln w="12700">
            <a:solidFill>
              <a:srgbClr val="B5683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30936" y="3756355"/>
            <a:ext cx="4937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463040" y="3655771"/>
            <a:ext cx="9555480" cy="6071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Thermal limit: The heater controller shall stop heating when the configured temperature limit is reached.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594360" y="4454957"/>
            <a:ext cx="566928" cy="643738"/>
          </a:xfrm>
          <a:prstGeom prst="rect">
            <a:avLst/>
          </a:prstGeom>
          <a:solidFill>
            <a:srgbClr val="B5683A"/>
          </a:solidFill>
          <a:ln w="12700">
            <a:solidFill>
              <a:srgbClr val="B5683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0936" y="4601261"/>
            <a:ext cx="4937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1463040" y="4500677"/>
            <a:ext cx="9555480" cy="6071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interlock: Actuator power shall require an independent enabled interlock.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594360" y="5299862"/>
            <a:ext cx="566928" cy="643738"/>
          </a:xfrm>
          <a:prstGeom prst="rect">
            <a:avLst/>
          </a:prstGeom>
          <a:solidFill>
            <a:srgbClr val="B5683A"/>
          </a:solidFill>
          <a:ln w="12700">
            <a:solidFill>
              <a:srgbClr val="B5683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30936" y="5446166"/>
            <a:ext cx="4937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1463040" y="5345582"/>
            <a:ext cx="9555480" cy="6071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Emergency stop: An emergency-stop request shall supersede an active extraction command.</a:t>
            </a:r>
            <a:endParaRPr lang="en-US" sz="1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F0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ASTRODIG LLC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82296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824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Evidence and configuration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94360" y="635508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361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2022-08-15 | Internal | 5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94360" y="1920240"/>
            <a:ext cx="5321808" cy="1042416"/>
          </a:xfrm>
          <a:prstGeom prst="rect">
            <a:avLst/>
          </a:prstGeom>
          <a:solidFill>
            <a:srgbClr val="FFFFFF"/>
          </a:solidFill>
          <a:ln w="12700">
            <a:solidFill>
              <a:srgbClr val="D2C7B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95528" y="2084832"/>
            <a:ext cx="49194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custody: Every sample container shall carry a unique identifier linked to its run.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6227064" y="1920240"/>
            <a:ext cx="5321808" cy="1042416"/>
          </a:xfrm>
          <a:prstGeom prst="rect">
            <a:avLst/>
          </a:prstGeom>
          <a:solidFill>
            <a:srgbClr val="FFFFFF"/>
          </a:solidFill>
          <a:ln w="12700">
            <a:solidFill>
              <a:srgbClr val="D2C7B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28232" y="2084832"/>
            <a:ext cx="49194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Blank control: Each material campaign shall include an empty-cartridge blank run.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594360" y="3218688"/>
            <a:ext cx="5321808" cy="1042416"/>
          </a:xfrm>
          <a:prstGeom prst="rect">
            <a:avLst/>
          </a:prstGeom>
          <a:solidFill>
            <a:srgbClr val="FFFFFF"/>
          </a:solidFill>
          <a:ln w="12700">
            <a:solidFill>
              <a:srgbClr val="D2C7B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95528" y="3383280"/>
            <a:ext cx="49194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Mass accounting: The run record shall include input, recovered, retained, and unaccounted mass.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6227064" y="3218688"/>
            <a:ext cx="5321808" cy="1042416"/>
          </a:xfrm>
          <a:prstGeom prst="rect">
            <a:avLst/>
          </a:prstGeom>
          <a:solidFill>
            <a:srgbClr val="FFFFFF"/>
          </a:solidFill>
          <a:ln w="12700">
            <a:solidFill>
              <a:srgbClr val="D2C7B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28232" y="3383280"/>
            <a:ext cx="49194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synchronization: Controller and instrument events shall share a synchronized run clock.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594360" y="4517136"/>
            <a:ext cx="5321808" cy="1042416"/>
          </a:xfrm>
          <a:prstGeom prst="rect">
            <a:avLst/>
          </a:prstGeom>
          <a:solidFill>
            <a:srgbClr val="FFFFFF"/>
          </a:solidFill>
          <a:ln w="12700">
            <a:solidFill>
              <a:srgbClr val="D2C7B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95528" y="4681728"/>
            <a:ext cx="49194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Telemetry continuity: The controller shall flag any telemetry gap longer than two seconds.</a:t>
            </a:r>
            <a:endParaRPr lang="en-US" sz="1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F0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ASTRODIG LLC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82296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824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Recovery and acceptance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94360" y="635508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361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2022-08-15 | Internal | 6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94360" y="1920240"/>
            <a:ext cx="566928" cy="643738"/>
          </a:xfrm>
          <a:prstGeom prst="rect">
            <a:avLst/>
          </a:prstGeom>
          <a:solidFill>
            <a:srgbClr val="B5683A"/>
          </a:solidFill>
          <a:ln w="12700">
            <a:solidFill>
              <a:srgbClr val="B568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30936" y="2066544"/>
            <a:ext cx="4937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463040" y="1965960"/>
            <a:ext cx="9555480" cy="6071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Configuration control: The run header shall record controller, cartridge, and sensor revisions.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594360" y="2765146"/>
            <a:ext cx="566928" cy="643738"/>
          </a:xfrm>
          <a:prstGeom prst="rect">
            <a:avLst/>
          </a:prstGeom>
          <a:solidFill>
            <a:srgbClr val="B5683A"/>
          </a:solidFill>
          <a:ln w="12700">
            <a:solidFill>
              <a:srgbClr val="B5683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30936" y="2911450"/>
            <a:ext cx="4937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463040" y="2810866"/>
            <a:ext cx="9555480" cy="6071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Calibration freshness: Mass and temperature measurements shall use current approved calibrations.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594360" y="3610051"/>
            <a:ext cx="566928" cy="643738"/>
          </a:xfrm>
          <a:prstGeom prst="rect">
            <a:avLst/>
          </a:prstGeom>
          <a:solidFill>
            <a:srgbClr val="B5683A"/>
          </a:solidFill>
          <a:ln w="12700">
            <a:solidFill>
              <a:srgbClr val="B5683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30936" y="3756355"/>
            <a:ext cx="4937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463040" y="3655771"/>
            <a:ext cx="9555480" cy="6071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Recovery restart: Restart after an abort shall require a new pre-run checklist.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594360" y="4454957"/>
            <a:ext cx="566928" cy="643738"/>
          </a:xfrm>
          <a:prstGeom prst="rect">
            <a:avLst/>
          </a:prstGeom>
          <a:solidFill>
            <a:srgbClr val="B5683A"/>
          </a:solidFill>
          <a:ln w="12700">
            <a:solidFill>
              <a:srgbClr val="B5683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0936" y="4601261"/>
            <a:ext cx="4937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1463040" y="4500677"/>
            <a:ext cx="9555480" cy="6071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export: Exported run data shall include units, channel names, and quality flags.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594360" y="5299862"/>
            <a:ext cx="566928" cy="643738"/>
          </a:xfrm>
          <a:prstGeom prst="rect">
            <a:avLst/>
          </a:prstGeom>
          <a:solidFill>
            <a:srgbClr val="B5683A"/>
          </a:solidFill>
          <a:ln w="12700">
            <a:solidFill>
              <a:srgbClr val="B5683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30936" y="5446166"/>
            <a:ext cx="4937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1463040" y="5345582"/>
            <a:ext cx="9555480" cy="6071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 authority: Only an authorized operator shall acknowledge a safety hold.</a:t>
            </a:r>
            <a:endParaRPr lang="en-US" sz="1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F0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ASTRODIG LLC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82296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824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From inputs to a reviewable result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94360" y="635508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361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2022-08-15 | Internal | 7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94360" y="2103120"/>
            <a:ext cx="1960474" cy="3401568"/>
          </a:xfrm>
          <a:prstGeom prst="rect">
            <a:avLst/>
          </a:prstGeom>
          <a:solidFill>
            <a:srgbClr val="FFFFFF"/>
          </a:solidFill>
          <a:ln w="12700">
            <a:solidFill>
              <a:srgbClr val="D2C7B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58952" y="2286000"/>
            <a:ext cx="163129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758952" y="3063240"/>
            <a:ext cx="163129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 configuration and inputs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2847442" y="2103120"/>
            <a:ext cx="1960474" cy="3401568"/>
          </a:xfrm>
          <a:prstGeom prst="rect">
            <a:avLst/>
          </a:prstGeom>
          <a:solidFill>
            <a:srgbClr val="E6DED2"/>
          </a:solidFill>
          <a:ln w="12700">
            <a:solidFill>
              <a:srgbClr val="D2C7B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012034" y="2286000"/>
            <a:ext cx="163129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3012034" y="3063240"/>
            <a:ext cx="163129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approved reference checks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5100523" y="2103120"/>
            <a:ext cx="1960474" cy="3401568"/>
          </a:xfrm>
          <a:prstGeom prst="rect">
            <a:avLst/>
          </a:prstGeom>
          <a:solidFill>
            <a:srgbClr val="FFFFFF"/>
          </a:solidFill>
          <a:ln w="12700">
            <a:solidFill>
              <a:srgbClr val="D2C7B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265115" y="2286000"/>
            <a:ext cx="163129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5265115" y="3063240"/>
            <a:ext cx="163129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 bounded campaign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7353605" y="2103120"/>
            <a:ext cx="1960474" cy="3401568"/>
          </a:xfrm>
          <a:prstGeom prst="rect">
            <a:avLst/>
          </a:prstGeom>
          <a:solidFill>
            <a:srgbClr val="E6DED2"/>
          </a:solidFill>
          <a:ln w="12700">
            <a:solidFill>
              <a:srgbClr val="D2C7B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518197" y="2286000"/>
            <a:ext cx="163129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7518197" y="3063240"/>
            <a:ext cx="163129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evidence and discrepancies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9606686" y="2103120"/>
            <a:ext cx="1960474" cy="3401568"/>
          </a:xfrm>
          <a:prstGeom prst="rect">
            <a:avLst/>
          </a:prstGeom>
          <a:solidFill>
            <a:srgbClr val="FFFFFF"/>
          </a:solidFill>
          <a:ln w="12700">
            <a:solidFill>
              <a:srgbClr val="D2C7B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771278" y="2286000"/>
            <a:ext cx="163129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9771278" y="3063240"/>
            <a:ext cx="163129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 or hold the next configuration</a:t>
            </a:r>
            <a:endParaRPr lang="en-US" sz="1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F0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ASTRODIG LLC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82296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824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Three engineering uses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94360" y="635508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361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2022-08-15 | Internal | 8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94360" y="2057400"/>
            <a:ext cx="3425952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2C7B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95528" y="2258568"/>
            <a:ext cx="30236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795528" y="3063240"/>
            <a:ext cx="3023616" cy="2157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Mission trade study: Compare candidate operating assumptions without asserting resource recoverability.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4367784" y="2057400"/>
            <a:ext cx="3425952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2C7B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68952" y="2258568"/>
            <a:ext cx="30236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4568952" y="3063240"/>
            <a:ext cx="3023616" cy="2157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Payload verification campaign: Link a controlled test sequence to acceptance evidence and configuration identity.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8141208" y="2057400"/>
            <a:ext cx="3425952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2C7B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342376" y="2258568"/>
            <a:ext cx="30236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8342376" y="3063240"/>
            <a:ext cx="3023616" cy="2157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Readiness review: Identify open discrepancies and distinguish accepted evidence from unresolved dependencies.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3F0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ASTRODIG LLC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82296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824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teams must bring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94360" y="635508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361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2022-08-15 | Internal | 9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94360" y="2057400"/>
            <a:ext cx="3425952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2C7B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95528" y="2258568"/>
            <a:ext cx="30236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795528" y="3063240"/>
            <a:ext cx="3023616" cy="2157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approved input or test-material specification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4367784" y="2057400"/>
            <a:ext cx="3425952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2C7B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68952" y="2258568"/>
            <a:ext cx="30236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4568952" y="3063240"/>
            <a:ext cx="3023616" cy="2157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named technical reviewer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8141208" y="2057400"/>
            <a:ext cx="3425952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2C7B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342376" y="2258568"/>
            <a:ext cx="30236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8342376" y="3063240"/>
            <a:ext cx="3023616" cy="2157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configuration-controlled reference case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3F0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ASTRODIG LLC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82296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824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Where the evidence stops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94360" y="635508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361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2022-08-15 | Internal | 10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94360" y="1920240"/>
            <a:ext cx="128016" cy="3776472"/>
          </a:xfrm>
          <a:prstGeom prst="rect">
            <a:avLst/>
          </a:prstGeom>
          <a:solidFill>
            <a:srgbClr val="B5683A"/>
          </a:solidFill>
          <a:ln w="12700">
            <a:solidFill>
              <a:srgbClr val="B568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24128" y="1965960"/>
            <a:ext cx="992124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 recovery does not prove in-space storage feasibility.</a:t>
            </a:r>
            <a:endParaRPr lang="en-US" sz="2300" dirty="0"/>
          </a:p>
          <a:p>
            <a:pPr indent="0" marL="0">
              <a:buNone/>
            </a:pPr>
            <a:endParaRPr lang="en-US" sz="2300" dirty="0"/>
          </a:p>
          <a:p>
            <a:pPr indent="0" marL="0">
              <a:buNone/>
            </a:pPr>
            <a:r>
              <a:rPr lang="en-US" sz="23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in scope: Flight qualification, asteroid resource certification, commercial mining, or mission approval.</a:t>
            </a:r>
            <a:endParaRPr lang="en-US" sz="2300" dirty="0"/>
          </a:p>
          <a:p>
            <a:pPr indent="0" marL="0">
              <a:buNone/>
            </a:pPr>
            <a:endParaRPr lang="en-US" sz="2300" dirty="0"/>
          </a:p>
          <a:p>
            <a:pPr indent="0" marL="0">
              <a:buNone/>
            </a:pPr>
            <a:r>
              <a:rPr lang="en-US" sz="23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ground-development release is not flight qualification.</a:t>
            </a:r>
            <a:endParaRPr lang="en-US" sz="2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824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EB8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ASTRODIG LLC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82296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Define the reference case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94360" y="635508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BCC6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2022-08-15 | Internal | 11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94360" y="1920240"/>
            <a:ext cx="128016" cy="3776472"/>
          </a:xfrm>
          <a:prstGeom prst="rect">
            <a:avLst/>
          </a:prstGeom>
          <a:solidFill>
            <a:srgbClr val="B5683A"/>
          </a:solidFill>
          <a:ln w="12700">
            <a:solidFill>
              <a:srgbClr val="B568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24128" y="1965960"/>
            <a:ext cx="992124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Available to contracted engineering teams through a scoped technical review.</a:t>
            </a:r>
            <a:endParaRPr lang="en-US" sz="2300" dirty="0"/>
          </a:p>
          <a:p>
            <a:pPr indent="0" marL="0">
              <a:buNone/>
            </a:pPr>
            <a:endParaRPr lang="en-US" sz="2300" dirty="0"/>
          </a:p>
          <a:p>
            <a:pPr indent="0" marL="0">
              <a:buNone/>
            </a:pPr>
            <a:r>
              <a:rPr lang="en-US" sz="2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a technical review through media@astrodig.example; define the reference case and acceptance evidence before campaign access.</a:t>
            </a:r>
            <a:endParaRPr lang="en-US" sz="2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Trebuchet M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AstroDig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AstroDig LLC - RegolithWorks 10.0 - Ground Campaign Overview</dc:title>
  <dc:subject>AstroDig LLC - RegolithWorks 10.0 - Ground Campaign Overview</dc:subject>
  <dc:creator>AstroDig LLC</dc:creator>
  <cp:lastModifiedBy>AstroDig LLC</cp:lastModifiedBy>
  <cp:revision>1</cp:revision>
  <dcterms:created xsi:type="dcterms:W3CDTF">2026-10-08T21:29:39Z</dcterms:created>
  <dcterms:modified xsi:type="dcterms:W3CDTF">2026-10-08T21:29:39Z</dcterms:modified>
</cp:coreProperties>
</file>