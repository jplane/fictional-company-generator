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9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0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1200000</c:v>
                </c:pt>
                <c:pt idx="1">
                  <c:v>456000</c:v>
                </c:pt>
                <c:pt idx="2">
                  <c:v>2900000</c:v>
                </c:pt>
                <c:pt idx="3">
                  <c:v>-2156000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Engineering</c:v>
                  </c:pt>
                  <c:pt idx="1">
                    <c:v>Instruments</c:v>
                  </c:pt>
                  <c:pt idx="2">
                    <c:v>Mission analysis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888000</c:v>
                </c:pt>
                <c:pt idx="1">
                  <c:v>192000</c:v>
                </c:pt>
                <c:pt idx="2">
                  <c:v>120000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Program operations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2088000</c:v>
                </c:pt>
                <c:pt idx="1">
                  <c:v>522000</c:v>
                </c:pt>
                <c:pt idx="2">
                  <c:v>290000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240000</c:v>
                </c:pt>
                <c:pt idx="1">
                  <c:v>276000</c:v>
                </c:pt>
                <c:pt idx="2">
                  <c:v>312000</c:v>
                </c:pt>
                <c:pt idx="3">
                  <c:v>372000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Target-screening discipline
USD; calendar fiscal year; engineering and development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$1,200,000
Operating result: $-2,156,000
Period-end headcount: 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
Development spending remains distinct from prospective mining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Recognize engineering and development revenue against accepted contracted work; do not recognize projected asteroid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development is the largest operating-expense category.
Program operations and administration remain separately identifiable.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reflects accepted contracted work, not asteroid sales.
Only periods available at publication are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 packages: 46.
Accepted reference runs: 106.
Rejected reference runs retained: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Contracted backlog at period end: $3,348,000.
Remaining contracted engineering work at a stated date; not recognized revenue or a guarantee of future collection.
No cash-flow or liquidity conclusion is derived from this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reachable targets from targets with verified resource potential.
Alternative: Expand optional functionality before closing verification evidence.
Disposition: Defer optional scope until reference evidence is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risk: input uncertainty.
Stop expansion when a critical verification discrepancy remains open.
Catalog rankings do not establish recoverable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quarters sum to revenue of $1,200,000.
COGS: $456,000; opex: $2,900,000.
Operating result: $-2,156,000; headcount equals the Q4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Prior-year revenue: $600,000.
Current-year revenue: $1,200,000.
Change: $600,000; 100.0%.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Avery Rowan - Chief Executive Officer
Riley Arden - Chief Technology Officer
Morgan Vale - Chief Financial Officer
Quinn Mercer - Director of Mission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planned; depends on verified payload interfaces and approved funding.
2030: Direct asteroid characterization; planned; depends on launch access, mission authorization, and spacecraft performance.
2032: Resource extraction demonstration; goal;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- 2014 Annual Business and Financial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2015-02-15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Target-screening discipline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USD; calendar fiscal year; engineering and development operations.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result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2015-02-15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$1,200,000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$-2,156,000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14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to operating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2015-02-15 | Internal | 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spending remains distinct from prospective mining economics.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recognized revenue comes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2015-02-15 | Internal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engineering and development revenue against accepted contracted work; do not recognize projected asteroid sales.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resources dominate spending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2015-02-15 | Internal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 is the largest operating-expense category.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operations and administration remain separately identifiable.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recognition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2015-02-15 | Internal | 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reflects accepted contracted work, not asteroid sales.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periods available at publication are included.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and reference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2015-02-15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46.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reference runs: 106.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reference runs retained: 17.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Commitments are not collections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2015-02-15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 at period end: $3,348,000.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contracted engineering work at a stated date; not recognized revenue or a guarantee of future collection.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cash-flow or liquidity conclusion is derived from this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priority and tradeoff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2015-02-15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reachable targets from targets with verified resource potential.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closing verification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 Defer optional scope until reference evidence is accepted.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Risk, response, and evidence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2015-02-15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risk: input uncertainty.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rankings do not establish recoverable resources.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reconciliation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2015-02-15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quarters sum to revenue of $1,200,000.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COGS: $456,000; opex: $2,900,000.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$-2,156,000; headcount equals the Q4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Available-year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2015-02-15 | Internal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Prior-year revenue: $600,000.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Current-year revenue: $1,200,000.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Change: $600,000; 100.0%.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Year-end accountable leadership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2015-02-15 | Internal |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Avery Rowan - Chief Executive Officer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Arden - Chief Technology Officer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Vale - Chief Financial Officer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Quinn Mercer - Director of Mission Systems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mission gates remain prospective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2015-02-15 | Internal |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planned;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planned;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goal;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- 2014 Annual Business and Financial Review</dc:title>
  <dc:subject>AstroDig LLC - 2014 Annual Business and Financial Review</dc:subject>
  <dc:creator>AstroDig LLC</dc:creator>
  <cp:lastModifiedBy>AstroDig LLC</cp:lastModifiedBy>
  <cp:revision>1</cp:revision>
  <dcterms:created xsi:type="dcterms:W3CDTF">2026-10-08T21:29:37Z</dcterms:created>
  <dcterms:modified xsi:type="dcterms:W3CDTF">2026-10-08T21:29:37Z</dcterms:modified>
</cp:coreProperties>
</file>