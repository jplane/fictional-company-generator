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Revenue</c:v>
                  </c:pt>
                  <c:pt idx="1">
                    <c:v>COGS</c:v>
                  </c:pt>
                  <c:pt idx="2">
                    <c:v>Opex</c:v>
                  </c:pt>
                  <c:pt idx="3">
                    <c:v>Operating result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156000</c:v>
                </c:pt>
                <c:pt idx="1">
                  <c:v>59280</c:v>
                </c:pt>
                <c:pt idx="2">
                  <c:v>465400</c:v>
                </c:pt>
                <c:pt idx="3">
                  <c:v>-368680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Engineering</c:v>
                  </c:pt>
                  <c:pt idx="1">
                    <c:v>Instruments</c:v>
                  </c:pt>
                  <c:pt idx="2">
                    <c:v>Mission analysis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117000</c:v>
                </c:pt>
                <c:pt idx="1">
                  <c:v>23400</c:v>
                </c:pt>
                <c:pt idx="2">
                  <c:v>15600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R&amp;D</c:v>
                  </c:pt>
                  <c:pt idx="1">
                    <c:v>Program operations</c:v>
                  </c:pt>
                  <c:pt idx="2">
                    <c:v>Administration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335088</c:v>
                </c:pt>
                <c:pt idx="1">
                  <c:v>83772</c:v>
                </c:pt>
                <c:pt idx="2">
                  <c:v>46540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B5683A"/>
            </a:solidFill>
            <a:effectLst/>
          </c:spPr>
          <c:invertIfNegative val="0"/>
          <c:dLbls>
            <c:numFmt formatCode="#,##0;(#,##0)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824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120000</c:v>
                </c:pt>
                <c:pt idx="1">
                  <c:v>138000</c:v>
                </c:pt>
                <c:pt idx="2">
                  <c:v>156000</c:v>
                </c:pt>
              </c:numCache>
            </c:numRef>
          </c:val>
        </c:ser>
        <c:dLbls>
          <c:numFmt formatCode="#,##0;(#,##0)" sourceLinked="0"/>
          <c:txPr>
            <a:bodyPr/>
            <a:lstStyle/>
            <a:p>
              <a:pPr>
                <a:defRPr b="0" i="0" strike="noStrike" sz="1200" u="none">
                  <a:solidFill>
                    <a:srgbClr val="1824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343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361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Engineering foundation
USD; calendar fiscal year; engineering and development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Revenue: $156,000
Operating result: $-368,680
Period-end headcount: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verification capacity is maintained ahead of mission deployment.
Development spending remains distinct from prospective mining economics.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Recognize engineering and development revenue against accepted contracted work; do not recognize projected asteroid sales.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and development is the largest operating-expense category.
Program operations and administration remain separately identifiable.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Quarterly revenue reflects accepted contracted work, not asteroid sales.
Only periods available at publication are included.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Completed work packages: 9.
Accepted reference runs: 21.
Rejected reference runs retained: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Contracted backlog at period end: $1,248,000.
Remaining contracted engineering work at a stated date; not recognized revenue or a guarantee of future collection.
No cash-flow or liquidity conclusion is derived from this snapshot.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 traceable engineering baselines before committing to hardware.
Alternative: Expand optional functionality before closing verification evidence.
Disposition: Defer optional scope until reference evidence is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Principal risk: reference-data consistency.
Stop expansion when a critical verification discrepancy remains open.
No hardware flight heritage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Continue the approved ground-development scope; no asteroid commodity revenue is included in the operating outlook.
No commercial asteroid extraction revenue is assumed.
The 2032 demonstration remains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1024128"/>
            <a:ext cx="10972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AstroDig LLC - Q3 2013 Operating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315468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foundation</a:t>
            </a:r>
            <a:endParaRPr lang="en-US" sz="2400" dirty="0"/>
          </a:p>
          <a:p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USD; calendar fiscal year; engineering and development operations.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281160" y="3200400"/>
            <a:ext cx="1920240" cy="1920240"/>
          </a:xfrm>
          <a:prstGeom prst="ellipse">
            <a:avLst/>
          </a:prstGeom>
          <a:solidFill>
            <a:srgbClr val="18242D"/>
          </a:solidFill>
          <a:ln w="50800">
            <a:solidFill>
              <a:srgbClr val="B568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0" y="3877056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result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$156,000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result: $-368,680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Period-end headcount: 8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to operating result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3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verification capacity is maintained ahead of mission deployment.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spending remains distinct from prospective mining economics.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recognized revenue comes from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4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engineering and development revenue against accepted contracted work; do not recognize projected asteroid sales.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resources dominate spending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5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development is the largest operating-expense category.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operations and administration remain separately identifiable.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Quarterly recognition profile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6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901952"/>
          <a:ext cx="77724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8961120" y="2057400"/>
            <a:ext cx="23774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revenue reflects accepted contracted work, not asteroid sales.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periods available at publication are included.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and reference evidence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work packages: 9.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reference runs: 21.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reference runs retained: 5.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Commitments are not collections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backlog at period end: $1,248,000.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contracted engineering work at a stated date; not recognized revenue or a guarantee of future collection.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cash-flow or liquidity conclusion is derived from this snapshot.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priority and tradeoff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traceable engineering baselines before committing to hardware.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Expand optional functionality before closing verification evidence.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Disposition: Defer optional scope until reference evidence is accepted.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0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824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Risk, response, and evidence boundary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361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95528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risk: reference-data consistency.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7784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8952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68952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expansion when a critical verification discrepancy remains open.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41208" y="2057400"/>
            <a:ext cx="342595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C7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2376" y="2258568"/>
            <a:ext cx="30236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B56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342376" y="3063240"/>
            <a:ext cx="302361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6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flight heritage exists.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2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EB8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ASTRODIG LLC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Labeled operating outlook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5508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6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2013-10-15 | Internal | 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920240"/>
            <a:ext cx="128016" cy="3776472"/>
          </a:xfrm>
          <a:prstGeom prst="rect">
            <a:avLst/>
          </a:prstGeom>
          <a:solidFill>
            <a:srgbClr val="B5683A"/>
          </a:solidFill>
          <a:ln w="12700">
            <a:solidFill>
              <a:srgbClr val="B568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965960"/>
            <a:ext cx="9921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the approved ground-development scope; no asteroid commodity revenue is included in the operating outlook.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asteroid extraction revenue is assumed.</a:t>
            </a:r>
            <a:endParaRPr lang="en-US" sz="2300" dirty="0"/>
          </a:p>
          <a:p>
            <a:pPr indent="0" marL="0">
              <a:buNone/>
            </a:pPr>
            <a:endParaRPr lang="en-US" sz="2300" dirty="0"/>
          </a:p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2032 demonstration remains conditional.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AstroDig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AstroDig LLC - Q3 2013 Operating Results</dc:title>
  <dc:subject>AstroDig LLC - Q3 2013 Operating Results</dc:subject>
  <dc:creator>AstroDig LLC</dc:creator>
  <cp:lastModifiedBy>AstroDig LLC</cp:lastModifiedBy>
  <cp:revision>1</cp:revision>
  <dcterms:created xsi:type="dcterms:W3CDTF">2026-10-08T21:29:36Z</dcterms:created>
  <dcterms:modified xsi:type="dcterms:W3CDTF">2026-10-08T21:29:36Z</dcterms:modified>
</cp:coreProperties>
</file>