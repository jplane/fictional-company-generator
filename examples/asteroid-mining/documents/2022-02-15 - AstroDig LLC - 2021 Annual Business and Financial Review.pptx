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8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8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8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8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8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3.xlsx"/></Relationships>
</file>

<file path=ppt/charts/_rels/chart8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4.xlsx"/></Relationships>
</file>

<file path=ppt/charts/_rels/chart8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5.xlsx"/></Relationships>
</file>

<file path=ppt/charts/_rels/chart8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6.xlsx"/></Relationships>
</file>

<file path=ppt/charts/chart8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Revenue</c:v>
                  </c:pt>
                  <c:pt idx="1">
                    <c:v>COGS</c:v>
                  </c:pt>
                  <c:pt idx="2">
                    <c:v>Opex</c:v>
                  </c:pt>
                  <c:pt idx="3">
                    <c:v>Operating result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15200000</c:v>
                </c:pt>
                <c:pt idx="1">
                  <c:v>5776000</c:v>
                </c:pt>
                <c:pt idx="2">
                  <c:v>17040000</c:v>
                </c:pt>
                <c:pt idx="3">
                  <c:v>-7616000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Engineering</c:v>
                  </c:pt>
                  <c:pt idx="1">
                    <c:v>Instruments</c:v>
                  </c:pt>
                  <c:pt idx="2">
                    <c:v>Mission analysis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10184000</c:v>
                </c:pt>
                <c:pt idx="1">
                  <c:v>3496000</c:v>
                </c:pt>
                <c:pt idx="2">
                  <c:v>1520000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R&amp;D</c:v>
                  </c:pt>
                  <c:pt idx="1">
                    <c:v>Program operations</c:v>
                  </c:pt>
                  <c:pt idx="2">
                    <c:v>Administration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12268800</c:v>
                </c:pt>
                <c:pt idx="1">
                  <c:v>3067200</c:v>
                </c:pt>
                <c:pt idx="2">
                  <c:v>1704000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3040000</c:v>
                </c:pt>
                <c:pt idx="1">
                  <c:v>3496000</c:v>
                </c:pt>
                <c:pt idx="2">
                  <c:v>3952000</c:v>
                </c:pt>
                <c:pt idx="3">
                  <c:v>4712000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Navigation and contact rehearsal
USD; calendar fiscal year; engineering and development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Revenue: $15,200,000
Operating result: $-7,616,000
Period-end headcount: 93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verification capacity is maintained ahead of mission deployment.
Development spending remains distinct from prospective mining economics.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Recognize engineering and development revenue against accepted contracted work; do not recognize projected asteroid sales.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development is the largest operating-expense category.
Program operations and administration remain separately identifiable.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Quarterly revenue reflects accepted contracted work, not asteroid sales.
Only periods available at publication are included.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Completed work packages: 130.
Accepted reference runs: 302.
Rejected reference runs retained: 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Contracted backlog at period end: $42,408,000.
Remaining contracted engineering work at a stated date; not recognized revenue or a guarantee of future collection.
No cash-flow or liquidity conclusion is derived from this snapshot.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Treat loss of contact confidence as a hold condition rather than a reason to continue.
Alternative: Expand optional functionality before closing verification evidence.
Disposition: Defer optional scope until reference evidence is accepted.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Principal risk: navigation uncertainty.
Stop expansion when a critical verification discrepancy remains open.
No asteroid-contact demonstration has been completed.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quarters sum to revenue of $15,200,000.
COGS: $5,776,000; opex: $17,040,000.
Operating result: $-7,616,000; headcount equals the Q4 snapshot.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Prior-year revenue: $10,800,000.
Current-year revenue: $15,200,000.
Change: $4,400,000; 40.7%.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Avery Rowan - Chief Executive Officer
Riley Arden - Chief Technology Officer
Casey Marlow - Chief Financial Officer
Quinn Mercer - Director of Mission Systems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2028: Prospecting spacecraft design review; planned; depends on verified payload interfaces and approved funding.
2030: Direct asteroid characterization; planned; depends on launch access, mission authorization, and spacecraft performance.
2032: Resource extraction demonstration; goal; depends on characterization evidence, extraction readiness, and funded mission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- 2021 Annual Business and Financial Review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2022-02-15 | Internal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and contact rehearsal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USD; calendar fiscal year; engineering and development operations.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Operating result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2022-02-15 | Internal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$15,200,000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result: $-7,616,000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Period-end headcount: 93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to operating result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2022-02-15 | Internal | 3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verification capacity is maintained ahead of mission deployment.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spending remains distinct from prospective mining economics.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recognized revenue comes from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2022-02-15 | Internal | 4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engineering and development revenue against accepted contracted work; do not recognize projected asteroid sales.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resources dominate spending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2022-02-15 | Internal | 5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development is the largest operating-expense category.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operations and administration remain separately identifiable.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Quarterly recognition profile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2022-02-15 | Internal | 6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revenue reflects accepted contracted work, not asteroid sales.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periods available at publication are included.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and reference evidence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2022-02-15 | Internal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work packages: 130.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reference runs: 302.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reference runs retained: 15.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Commitments are not collections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2022-02-15 | Internal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Contracted backlog at period end: $42,408,000.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contracted engineering work at a stated date; not recognized revenue or a guarantee of future collection.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cash-flow or liquidity conclusion is derived from this snapshot.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priority and tradeoff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2022-02-15 | Internal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loss of contact confidence as a hold condition rather than a reason to continue.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Expand optional functionality before closing verification evidence.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Disposition: Defer optional scope until reference evidence is accepted.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Risk, response, and evidence boundary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2022-02-15 | Internal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risk: navigation uncertainty.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expansion when a critical verification discrepancy remains open.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asteroid-contact demonstration has been completed.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 reconciliation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2022-02-15 | Internal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quarters sum to revenue of $15,200,000.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COGS: $5,776,000; opex: $17,040,000.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result: $-7,616,000; headcount equals the Q4 snapshot.</a:t>
            </a:r>
            <a:endParaRPr lang="en-US" sz="2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Available-year comparison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2022-02-15 | Internal |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Prior-year revenue: $10,800,000.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Current-year revenue: $15,200,000.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Change: $4,400,000; 40.7%.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Year-end accountable leadership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2022-02-15 | Internal |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Avery Rowan - Chief Executive Officer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944368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3090672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990088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Riley Arden - Chief Technology Officer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3968496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411480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4014216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Casey Marlow - Chief Financial Officer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4992624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513892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5038344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Quinn Mercer - Director of Mission Systems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mission gates remain prospective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2022-02-15 | Internal | 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8952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2028: Prospecting spacecraft design review; planned; depends on verified payload interfaces and approved funding.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49496" y="2103120"/>
            <a:ext cx="3462528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14088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14088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2030: Direct asteroid characterization; planned; depends on launch access, mission authorization, and spacecraft performance.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104632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9224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69224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2032: Resource extraction demonstration; goal; depends on characterization evidence, extraction readiness, and funded mission operations.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- 2021 Annual Business and Financial Review</dc:title>
  <dc:subject>AstroDig LLC - 2021 Annual Business and Financial Review</dc:subject>
  <dc:creator>AstroDig LLC</dc:creator>
  <cp:lastModifiedBy>AstroDig LLC</cp:lastModifiedBy>
  <cp:revision>1</cp:revision>
  <dcterms:created xsi:type="dcterms:W3CDTF">2026-10-08T21:29:39Z</dcterms:created>
  <dcterms:modified xsi:type="dcterms:W3CDTF">2026-10-08T21:29:39Z</dcterms:modified>
</cp:coreProperties>
</file>